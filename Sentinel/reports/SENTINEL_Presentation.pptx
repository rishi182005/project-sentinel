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101" y="96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09713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85216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0" y="274320"/>
            <a:ext cx="3291840" cy="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0" y="1280160"/>
            <a:ext cx="3291840" cy="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0" y="2286000"/>
            <a:ext cx="3291840" cy="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0" y="3291840"/>
            <a:ext cx="3291840" cy="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852160" y="4297680"/>
            <a:ext cx="3291840" cy="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852160" y="0"/>
            <a:ext cx="0" cy="514350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49440" y="0"/>
            <a:ext cx="0" cy="514350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0" y="0"/>
            <a:ext cx="0" cy="514350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6350">
            <a:solidFill>
              <a:srgbClr val="1A35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89320" y="457200"/>
            <a:ext cx="1463040" cy="96012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457200"/>
            <a:ext cx="146304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594360"/>
            <a:ext cx="128016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080760" y="108127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080760" y="124449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XGBoost Model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543800" y="457200"/>
            <a:ext cx="1463040" cy="96012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543800" y="457200"/>
            <a:ext cx="146304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35240" y="594360"/>
            <a:ext cx="128016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0.865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7635240" y="108127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635240" y="124449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Discrimination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989320" y="1508760"/>
            <a:ext cx="1463040" cy="96012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989320" y="1508760"/>
            <a:ext cx="1463040" cy="45720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080760" y="1645920"/>
            <a:ext cx="128016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080760" y="213283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Recall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080760" y="229605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Caught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543800" y="1508760"/>
            <a:ext cx="1463040" cy="96012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543800" y="1508760"/>
            <a:ext cx="146304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35240" y="1645920"/>
            <a:ext cx="1280160" cy="499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11,826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7635240" y="213283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635240" y="229605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TwiBot-20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943600" y="265176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kern="0" spc="3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STATEMENT 3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943600" y="2907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 Analytics Hackathon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20040" y="91440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200" b="1" kern="0" spc="6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6200" dirty="0"/>
          </a:p>
        </p:txBody>
      </p:sp>
      <p:sp>
        <p:nvSpPr>
          <p:cNvPr id="36" name="Text 34"/>
          <p:cNvSpPr/>
          <p:nvPr/>
        </p:nvSpPr>
        <p:spPr>
          <a:xfrm>
            <a:off x="320040" y="19202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Engagement Detection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320040" y="235000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Social Media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320040" y="292608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kern="0" spc="1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 Detection · Authenticity Scoring · Behavioural Analysis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0" y="4796028"/>
            <a:ext cx="5852160" cy="347472"/>
          </a:xfrm>
          <a:prstGeom prst="rect">
            <a:avLst/>
          </a:prstGeom>
          <a:solidFill>
            <a:srgbClr val="00D4AA">
              <a:alpha val="12000"/>
            </a:srgbClr>
          </a:solidFill>
          <a:ln w="6350">
            <a:solidFill>
              <a:srgbClr val="00D4A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2880" y="4796028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kern="0" spc="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XGBoost  ·  27+ Features  ·  TwiBot-20  ·  NLP  ·  Coordination Detection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FF5370">
              <a:alpha val="20000"/>
            </a:srgbClr>
          </a:solidFill>
          <a:ln w="6350">
            <a:solidFill>
              <a:srgbClr val="FF53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PROBLEM STATEMENT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Fake Engagement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Social media platforms distorted by bots and coordinated inauthentic behaviour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234440"/>
            <a:ext cx="4114800" cy="352044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solidFill>
            <a:srgbClr val="FF5370">
              <a:alpha val="20000"/>
            </a:srgbClr>
          </a:solidFill>
          <a:ln w="6350">
            <a:solidFill>
              <a:srgbClr val="FF53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⚡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24128" y="138988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Manipulation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24128" y="157276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post at inhuman speeds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fixed intervals to game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algorithms and trending topics.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solidFill>
            <a:srgbClr val="FF5370">
              <a:alpha val="20000"/>
            </a:srgbClr>
          </a:solidFill>
          <a:ln w="6350">
            <a:solidFill>
              <a:srgbClr val="FF53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24128" y="221284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Coordinated Amplification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24128" y="239572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 farms post simultaneously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manufacture viral content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 false social consensus.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48640" y="3017520"/>
            <a:ext cx="384048" cy="384048"/>
          </a:xfrm>
          <a:prstGeom prst="rect">
            <a:avLst/>
          </a:prstGeom>
          <a:solidFill>
            <a:srgbClr val="FF5370">
              <a:alpha val="20000"/>
            </a:srgbClr>
          </a:solidFill>
          <a:ln w="6350">
            <a:solidFill>
              <a:srgbClr val="FF537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👥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24128" y="303580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Follow-Spam Inflation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24128" y="321868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Mass-follow bots inflate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follower counts to fake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credibility and influence.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384048" cy="384048"/>
          </a:xfrm>
          <a:prstGeom prst="rect">
            <a:avLst/>
          </a:prstGeom>
          <a:solidFill>
            <a:srgbClr val="FF5370">
              <a:alpha val="20000"/>
            </a:srgbClr>
          </a:solidFill>
          <a:ln w="6350">
            <a:solidFill>
              <a:srgbClr val="FF53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</a:rPr>
              <a:t>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3858768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Linguistic Deception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24128" y="404164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Template-based bots mimic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 language while lacking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lexical diversity.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754880" y="1234440"/>
            <a:ext cx="4023360" cy="1600200"/>
          </a:xfrm>
          <a:prstGeom prst="rect">
            <a:avLst/>
          </a:prstGeom>
          <a:solidFill>
            <a:srgbClr val="0D1F35"/>
          </a:solidFill>
          <a:ln w="9525">
            <a:solidFill>
              <a:srgbClr val="FF537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92040" y="132588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572768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Detecting fake engagement without access to private data, relying only on publicly observable behavioural signals — timing, content patterns, and network structure.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54880" y="2971800"/>
            <a:ext cx="4023360" cy="1783080"/>
          </a:xfrm>
          <a:prstGeom prst="rect">
            <a:avLst/>
          </a:prstGeom>
          <a:solidFill>
            <a:srgbClr val="0D1F35"/>
          </a:solidFill>
          <a:ln w="9525">
            <a:solidFill>
              <a:srgbClr val="00D4A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92040" y="306324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310128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 </a:t>
            </a: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a model that classifies accounts as bot or human
</a:t>
            </a:r>
            <a:r>
              <a:rPr lang="en-US" sz="9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 </a:t>
            </a: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an Authenticity Score (0–100%) per account
</a:t>
            </a:r>
            <a:r>
              <a:rPr lang="en-US" sz="9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 </a:t>
            </a: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Identify behavioural anomaly dimensions
</a:t>
            </a:r>
            <a:r>
              <a:rPr lang="en-US" sz="9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 </a:t>
            </a: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 coordinated inauthentic behaviour across accounts
</a:t>
            </a:r>
            <a:r>
              <a:rPr lang="en-US" sz="9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 </a:t>
            </a: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 WHY an account is flagged (SHAP)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38BDF8">
              <a:alpha val="20000"/>
            </a:srgbClr>
          </a:solidFill>
          <a:ln w="635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DATA &amp; FEATURES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TwiBot-20 Dataset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11,826 labeled Twitter accounts · 3 splits · Rich profile + tweet data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234440"/>
            <a:ext cx="1920240" cy="100584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" y="1234440"/>
            <a:ext cx="192024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371600"/>
            <a:ext cx="173736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11,826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02920" y="188823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Accounts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2059229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+ test + dev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514600" y="1234440"/>
            <a:ext cx="1920240" cy="100584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14600" y="1234440"/>
            <a:ext cx="192024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06040" y="1371600"/>
            <a:ext cx="173736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8,278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2606040" y="188823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Accounts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606040" y="2059229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train.json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17720" y="1234440"/>
            <a:ext cx="1920240" cy="100584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1234440"/>
            <a:ext cx="1920240" cy="45720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1371600"/>
            <a:ext cx="173736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55.7%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4709160" y="188823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Ratio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09160" y="2059229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6,589 bots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720840" y="1234440"/>
            <a:ext cx="1920240" cy="100584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720840" y="1234440"/>
            <a:ext cx="192024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12280" y="1371600"/>
            <a:ext cx="1737360" cy="5230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44.3%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6812280" y="188823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Ratio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812280" y="2059229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5,237 humans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11480" y="2423160"/>
            <a:ext cx="2697480" cy="2395728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1480" y="2423160"/>
            <a:ext cx="54864" cy="2395728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25146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Record Structure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8640" y="2770632"/>
            <a:ext cx="246888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Each record contains: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profile  →  bio, counts, verified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tweet    →  list of recent tweets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neighbor →  social graph edges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domain   →  content domain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label    →  "bot" or "human"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246120" y="2423160"/>
            <a:ext cx="2606040" cy="2395728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46120" y="2423160"/>
            <a:ext cx="54864" cy="2395728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83280" y="25146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Challenges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383280" y="2770632"/>
            <a:ext cx="237744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JSON is messy: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• Mixed types: "True" vs True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• Null values: None, "null", ""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• Trailing spaces in strings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• Inconsistent label formats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Solution: 4 safe type converters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safe_int / safe_bool / safe_str / safe_url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0" y="2423160"/>
            <a:ext cx="3017520" cy="2395728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89320" y="2423160"/>
            <a:ext cx="54864" cy="2395728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26480" y="251460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Categories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126480" y="2770632"/>
            <a:ext cx="278892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27+ features extracted: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Profile signals    (17)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Timing patterns    (10)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NLP features       (10)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Network ratios      (4)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Coordination score  (1)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Total: 42 features in v2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A78BFA">
              <a:alpha val="20000"/>
            </a:srgbClr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FEATURES (1/2)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Features — Profile &amp; Timing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signals + temporal patterns extracted from account metadata and tweet timestamps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07008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PROFILE SIGNALS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11480" y="1481328"/>
            <a:ext cx="406908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A78B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1481328"/>
            <a:ext cx="45720" cy="40233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517904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followers_count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1682496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follower count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11480" y="1929384"/>
            <a:ext cx="406908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FF537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1929384"/>
            <a:ext cx="45720" cy="402336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1965960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follower_following_ratio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2130552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follow many, have few followers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2377440"/>
            <a:ext cx="406908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00D4A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2377440"/>
            <a:ext cx="45720" cy="40233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414016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2578608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 accounts ≈ never bots (81.5% importance)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11480" y="2825496"/>
            <a:ext cx="406908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38BDF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1480" y="2825496"/>
            <a:ext cx="45720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2862072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description_length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48640" y="3026664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often have empty bios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11480" y="3273552"/>
            <a:ext cx="406908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A78BF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273552"/>
            <a:ext cx="45720" cy="40233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310128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username_digit_ratio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48640" y="3474720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bot83921 pattern detection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11480" y="3721608"/>
            <a:ext cx="406908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FFB34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1480" y="3721608"/>
            <a:ext cx="45720" cy="402336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3758184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listed_count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3922776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 curation trust signal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411480" y="4169664"/>
            <a:ext cx="406908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FF537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480" y="4169664"/>
            <a:ext cx="45720" cy="402336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206240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account_age_days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48640" y="4370832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accounts are suspicious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11480" y="4617720"/>
            <a:ext cx="406908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38BDF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11480" y="4617720"/>
            <a:ext cx="45720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48640" y="4654296"/>
            <a:ext cx="3749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engagement_rate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48640" y="4818888"/>
            <a:ext cx="3749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Favourites ÷ statuses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754880" y="1207008"/>
            <a:ext cx="4160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TIMING PATTERNS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754880" y="1481328"/>
            <a:ext cx="416052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FFB34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54880" y="1481328"/>
            <a:ext cx="45720" cy="402336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0" y="1517904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mean_interval_sec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892040" y="1682496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 gap between posts — bots are rigid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754880" y="1929384"/>
            <a:ext cx="416052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FF537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54880" y="1929384"/>
            <a:ext cx="45720" cy="402336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92040" y="196596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std_interval_sec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892040" y="2130552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 std = robot-like regularity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754880" y="2377440"/>
            <a:ext cx="416052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FF537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754880" y="2377440"/>
            <a:ext cx="45720" cy="402336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92040" y="24140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burst_ratio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892040" y="2578608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Posts &lt; 60s apart — automation signal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754880" y="2825496"/>
            <a:ext cx="416052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38BDF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54880" y="2825496"/>
            <a:ext cx="45720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892040" y="2862072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night_post_ratio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4892040" y="3026664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Humans sleep; bots post 24/7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4754880" y="3273552"/>
            <a:ext cx="416052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38BDF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754880" y="3273552"/>
            <a:ext cx="45720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892040" y="3310128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posting_hour_std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4892040" y="3474720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Humans show natural time variance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4754880" y="3721608"/>
            <a:ext cx="416052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FFB347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754880" y="3721608"/>
            <a:ext cx="45720" cy="402336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92040" y="3758184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daily_count_cv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4892040" y="3922776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 CV = identical days = bot pattern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754880" y="4169664"/>
            <a:ext cx="416052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A78BF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754880" y="4169664"/>
            <a:ext cx="45720" cy="40233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892040" y="4206240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interval_entropy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4892040" y="4370832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Shannon entropy of posting rhythm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754880" y="4617720"/>
            <a:ext cx="4160520" cy="402336"/>
          </a:xfrm>
          <a:prstGeom prst="rect">
            <a:avLst/>
          </a:prstGeom>
          <a:solidFill>
            <a:srgbClr val="0D1F35"/>
          </a:solidFill>
          <a:ln w="5080">
            <a:solidFill>
              <a:srgbClr val="00D4A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754880" y="4617720"/>
            <a:ext cx="45720" cy="402336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892040" y="465429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min_interval_sec</a:t>
            </a:r>
            <a:endParaRPr lang="en-US" sz="900" dirty="0"/>
          </a:p>
        </p:txBody>
      </p:sp>
      <p:sp>
        <p:nvSpPr>
          <p:cNvPr id="73" name="Text 71"/>
          <p:cNvSpPr/>
          <p:nvPr/>
        </p:nvSpPr>
        <p:spPr>
          <a:xfrm>
            <a:off x="4892040" y="4818888"/>
            <a:ext cx="3840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Shortest gap ever — floor of automation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00D4AA">
              <a:alpha val="20000"/>
            </a:srgbClr>
          </a:solidFill>
          <a:ln w="635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FEATURES (2/2)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Features — NLP &amp; Coordination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Text-level signals from tweet content + cross-account temporal co-activity analysis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207008"/>
            <a:ext cx="4069080" cy="3520440"/>
          </a:xfrm>
          <a:prstGeom prst="rect">
            <a:avLst/>
          </a:prstGeom>
          <a:solidFill>
            <a:srgbClr val="0D1F35"/>
          </a:solidFill>
          <a:ln w="9525">
            <a:solidFill>
              <a:srgbClr val="00D4A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29844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NLP / CONTENT FEATURES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664208"/>
            <a:ext cx="109728" cy="109728"/>
          </a:xfrm>
          <a:prstGeom prst="ellipse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160934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hashtag_per_tweet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49808" y="181965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spam hashtags to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game trending topics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48640" y="2185416"/>
            <a:ext cx="109728" cy="109728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213055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url_ratio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49808" y="23408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Spam bots post almost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nothing but links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706624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265176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retweet_ratio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49808" y="28620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Amplifier bots retweet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exclusively — no originals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48640" y="3227832"/>
            <a:ext cx="109728" cy="109728"/>
          </a:xfrm>
          <a:prstGeom prst="ellipse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9808" y="3172968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lexical_diversity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49808" y="3383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repeat templates;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 unique word ratio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3749040"/>
            <a:ext cx="109728" cy="109728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3694176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reply_ratio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49808" y="3904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Humans converse;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broadcast only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48640" y="4270248"/>
            <a:ext cx="109728" cy="109728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4215384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orig_content_ratio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49808" y="44256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1 − retweet_ratio;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much is original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663440" y="1207008"/>
            <a:ext cx="4251960" cy="3520440"/>
          </a:xfrm>
          <a:prstGeom prst="rect">
            <a:avLst/>
          </a:prstGeom>
          <a:solidFill>
            <a:srgbClr val="0D1F35"/>
          </a:solidFill>
          <a:ln w="9525">
            <a:solidFill>
              <a:srgbClr val="FF537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0600" y="129844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COORDINATION DETECTION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800600" y="164592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works: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800600" y="1883664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Extract all tweet timestamps across all accounts
2. For each pair of posts within 60 seconds:
</a:t>
            </a:r>
            <a:r>
              <a:rPr lang="en-US" sz="900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→ Both accounts get +1 to coordination counter
</a:t>
            </a: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Normalize all counts to 0–1 score
4. coordination_score becomes a model feature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800600" y="3246120"/>
            <a:ext cx="3931920" cy="45720"/>
          </a:xfrm>
          <a:prstGeom prst="rect">
            <a:avLst/>
          </a:prstGeom>
          <a:solidFill>
            <a:srgbClr val="1A3550"/>
          </a:solidFill>
          <a:ln w="12700">
            <a:solidFill>
              <a:srgbClr val="1A355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00600" y="336499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00600" y="3602736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Individual bots can mimic humans well.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 NETWORKS leave a collective timing fingerprint — dozens of accounts posting the same hashtag within seconds of each other. This is invisible to single-account analysis.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38BDF8">
              <a:alpha val="20000"/>
            </a:srgbClr>
          </a:solidFill>
          <a:ln w="635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ARCHITECTURE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 — SENTINEL v2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XGBoost models + K-Means taxonomy + SHAP explainability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280160"/>
            <a:ext cx="1152144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280160"/>
            <a:ext cx="1152144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" y="1335024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0040" y="17373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JSON files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11,826 accounts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426464" y="1737360"/>
            <a:ext cx="91440" cy="0"/>
          </a:xfrm>
          <a:prstGeom prst="line">
            <a:avLst/>
          </a:prstGeom>
          <a:noFill/>
          <a:ln w="12700">
            <a:solidFill>
              <a:srgbClr val="1A355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26464" y="1627632"/>
            <a:ext cx="91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517904" y="1280160"/>
            <a:ext cx="1152144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17904" y="1280160"/>
            <a:ext cx="1152144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63624" y="1335024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63624" y="17373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features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Safe coercion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670048" y="1737360"/>
            <a:ext cx="91440" cy="0"/>
          </a:xfrm>
          <a:prstGeom prst="line">
            <a:avLst/>
          </a:prstGeom>
          <a:noFill/>
          <a:ln w="12700">
            <a:solidFill>
              <a:srgbClr val="1A355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70048" y="1627632"/>
            <a:ext cx="91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61488" y="1280160"/>
            <a:ext cx="1152144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761488" y="1280160"/>
            <a:ext cx="1152144" cy="54864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807208" y="1335024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807208" y="17373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Entropy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913632" y="1737360"/>
            <a:ext cx="91440" cy="0"/>
          </a:xfrm>
          <a:prstGeom prst="line">
            <a:avLst/>
          </a:prstGeom>
          <a:noFill/>
          <a:ln w="12700">
            <a:solidFill>
              <a:srgbClr val="1A355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13632" y="1627632"/>
            <a:ext cx="91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05072" y="1280160"/>
            <a:ext cx="1152144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05072" y="1280160"/>
            <a:ext cx="1152144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50792" y="1335024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050792" y="17373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features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Lex diversity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157216" y="1737360"/>
            <a:ext cx="91440" cy="0"/>
          </a:xfrm>
          <a:prstGeom prst="line">
            <a:avLst/>
          </a:prstGeom>
          <a:noFill/>
          <a:ln w="12700">
            <a:solidFill>
              <a:srgbClr val="1A35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57216" y="1627632"/>
            <a:ext cx="91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248656" y="1280160"/>
            <a:ext cx="1152144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248656" y="1280160"/>
            <a:ext cx="1152144" cy="54864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94376" y="1335024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Coord.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294376" y="17373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60s window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Co-activity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400800" y="1737360"/>
            <a:ext cx="91440" cy="0"/>
          </a:xfrm>
          <a:prstGeom prst="line">
            <a:avLst/>
          </a:prstGeom>
          <a:noFill/>
          <a:ln w="12700">
            <a:solidFill>
              <a:srgbClr val="1A35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0" y="1627632"/>
            <a:ext cx="91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492240" y="1280160"/>
            <a:ext cx="1152144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92240" y="1280160"/>
            <a:ext cx="1152144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37960" y="1335024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37960" y="17373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features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81% accuracy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7644384" y="1737360"/>
            <a:ext cx="91440" cy="0"/>
          </a:xfrm>
          <a:prstGeom prst="line">
            <a:avLst/>
          </a:prstGeom>
          <a:noFill/>
          <a:ln w="12700">
            <a:solidFill>
              <a:srgbClr val="1A35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44384" y="1627632"/>
            <a:ext cx="91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735824" y="1280160"/>
            <a:ext cx="1152144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735824" y="1280160"/>
            <a:ext cx="1152144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81544" y="1335024"/>
            <a:ext cx="10607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781544" y="1737360"/>
            <a:ext cx="1060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verified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Behavioral only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274320" y="2423160"/>
            <a:ext cx="1920240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4320" y="2423160"/>
            <a:ext cx="1920240" cy="54864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247802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365760" y="2880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K-Means 4 types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features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2194560" y="27706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2468880" y="2423160"/>
            <a:ext cx="1920240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68880" y="2423160"/>
            <a:ext cx="1920240" cy="54864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60320" y="247802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Explainer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2560320" y="2880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TreeExplainer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B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389120" y="27706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663440" y="2423160"/>
            <a:ext cx="1920240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663440" y="2423160"/>
            <a:ext cx="192024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54880" y="247802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Authenticity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4754880" y="2880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1 − P(bot)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0–100%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6583680" y="27706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8CA8"/>
                </a:solidFill>
              </a:rPr>
              <a:t>→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858000" y="2423160"/>
            <a:ext cx="1920240" cy="914400"/>
          </a:xfrm>
          <a:prstGeom prst="rect">
            <a:avLst/>
          </a:prstGeom>
          <a:solidFill>
            <a:srgbClr val="0D1F35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858000" y="2423160"/>
            <a:ext cx="192024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949440" y="2478024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</a:t>
            </a:r>
            <a:endParaRPr lang="en-US" sz="95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6949440" y="288036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Anomaly flags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Explanation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411480" y="354787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XGBOOST HYPERPARAMETERS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411480" y="3785616"/>
            <a:ext cx="1325880" cy="475488"/>
          </a:xfrm>
          <a:prstGeom prst="rect">
            <a:avLst/>
          </a:prstGeom>
          <a:solidFill>
            <a:srgbClr val="0D1F35"/>
          </a:solidFill>
          <a:ln w="6350">
            <a:solidFill>
              <a:srgbClr val="1A355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11480" y="37856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</a:t>
            </a:r>
            <a:endParaRPr lang="en-US" sz="1400" dirty="0"/>
          </a:p>
        </p:txBody>
      </p:sp>
      <p:sp>
        <p:nvSpPr>
          <p:cNvPr id="70" name="Text 68"/>
          <p:cNvSpPr/>
          <p:nvPr/>
        </p:nvSpPr>
        <p:spPr>
          <a:xfrm>
            <a:off x="411480" y="40050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1874520" y="3785616"/>
            <a:ext cx="1325880" cy="475488"/>
          </a:xfrm>
          <a:prstGeom prst="rect">
            <a:avLst/>
          </a:prstGeom>
          <a:solidFill>
            <a:srgbClr val="0D1F35"/>
          </a:solidFill>
          <a:ln w="6350">
            <a:solidFill>
              <a:srgbClr val="1A355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1874520" y="37856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73" name="Text 71"/>
          <p:cNvSpPr/>
          <p:nvPr/>
        </p:nvSpPr>
        <p:spPr>
          <a:xfrm>
            <a:off x="1874520" y="40050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3337560" y="3785616"/>
            <a:ext cx="1325880" cy="475488"/>
          </a:xfrm>
          <a:prstGeom prst="rect">
            <a:avLst/>
          </a:prstGeom>
          <a:solidFill>
            <a:srgbClr val="0D1F35"/>
          </a:solidFill>
          <a:ln w="6350">
            <a:solidFill>
              <a:srgbClr val="1A355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337560" y="37856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</a:t>
            </a:r>
            <a:endParaRPr lang="en-US" sz="1400" dirty="0"/>
          </a:p>
        </p:txBody>
      </p:sp>
      <p:sp>
        <p:nvSpPr>
          <p:cNvPr id="76" name="Text 74"/>
          <p:cNvSpPr/>
          <p:nvPr/>
        </p:nvSpPr>
        <p:spPr>
          <a:xfrm>
            <a:off x="3337560" y="40050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learning_rate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4800600" y="3785616"/>
            <a:ext cx="1325880" cy="475488"/>
          </a:xfrm>
          <a:prstGeom prst="rect">
            <a:avLst/>
          </a:prstGeom>
          <a:solidFill>
            <a:srgbClr val="0D1F35"/>
          </a:solidFill>
          <a:ln w="6350">
            <a:solidFill>
              <a:srgbClr val="1A355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800600" y="37856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400" dirty="0"/>
          </a:p>
        </p:txBody>
      </p:sp>
      <p:sp>
        <p:nvSpPr>
          <p:cNvPr id="79" name="Text 77"/>
          <p:cNvSpPr/>
          <p:nvPr/>
        </p:nvSpPr>
        <p:spPr>
          <a:xfrm>
            <a:off x="4800600" y="40050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subsample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6263640" y="3785616"/>
            <a:ext cx="1325880" cy="475488"/>
          </a:xfrm>
          <a:prstGeom prst="rect">
            <a:avLst/>
          </a:prstGeom>
          <a:solidFill>
            <a:srgbClr val="0D1F35"/>
          </a:solidFill>
          <a:ln w="6350">
            <a:solidFill>
              <a:srgbClr val="1A3550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263640" y="37856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400" dirty="0"/>
          </a:p>
        </p:txBody>
      </p:sp>
      <p:sp>
        <p:nvSpPr>
          <p:cNvPr id="82" name="Text 80"/>
          <p:cNvSpPr/>
          <p:nvPr/>
        </p:nvSpPr>
        <p:spPr>
          <a:xfrm>
            <a:off x="6263640" y="40050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test_split</a:t>
            </a:r>
            <a:endParaRPr lang="en-US" sz="750" dirty="0"/>
          </a:p>
        </p:txBody>
      </p:sp>
      <p:sp>
        <p:nvSpPr>
          <p:cNvPr id="83" name="Shape 81"/>
          <p:cNvSpPr/>
          <p:nvPr/>
        </p:nvSpPr>
        <p:spPr>
          <a:xfrm>
            <a:off x="7726680" y="3785616"/>
            <a:ext cx="1325880" cy="475488"/>
          </a:xfrm>
          <a:prstGeom prst="rect">
            <a:avLst/>
          </a:prstGeom>
          <a:solidFill>
            <a:srgbClr val="0D1F35"/>
          </a:solidFill>
          <a:ln w="6350">
            <a:solidFill>
              <a:srgbClr val="1A355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726680" y="378561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400" dirty="0"/>
          </a:p>
        </p:txBody>
      </p:sp>
      <p:sp>
        <p:nvSpPr>
          <p:cNvPr id="85" name="Text 83"/>
          <p:cNvSpPr/>
          <p:nvPr/>
        </p:nvSpPr>
        <p:spPr>
          <a:xfrm>
            <a:off x="7726680" y="4005072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stratified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00D4AA">
              <a:alpha val="20000"/>
            </a:srgbClr>
          </a:solidFill>
          <a:ln w="6350">
            <a:solidFill>
              <a:srgbClr val="00D4A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RESULTS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Results — Performance Metrics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XGBoost Model A (all features) · 2,366 test samples · TwiBot-20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234440"/>
            <a:ext cx="1554480" cy="1024128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" y="1234440"/>
            <a:ext cx="155448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371600"/>
            <a:ext cx="1371600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81.0%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02920" y="190012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2074225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overall test set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103120" y="1234440"/>
            <a:ext cx="1554480" cy="1024128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103120" y="1234440"/>
            <a:ext cx="155448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194560" y="1371600"/>
            <a:ext cx="1371600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0.8649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2194560" y="190012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194560" y="2074225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discrimination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794760" y="1234440"/>
            <a:ext cx="1554480" cy="1024128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94760" y="1234440"/>
            <a:ext cx="155448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1371600"/>
            <a:ext cx="1371600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0.865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3886200" y="190012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Precision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886200" y="2074225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PR-curve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486400" y="1234440"/>
            <a:ext cx="1554480" cy="1024128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486400" y="1234440"/>
            <a:ext cx="1554480" cy="45720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577840" y="1371600"/>
            <a:ext cx="1371600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5577840" y="190012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Recall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577840" y="2074225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caught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178040" y="1234440"/>
            <a:ext cx="1554480" cy="1024128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78040" y="1234440"/>
            <a:ext cx="1554480" cy="4572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69480" y="1371600"/>
            <a:ext cx="1371600" cy="532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93%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7269480" y="190012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Precision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269480" y="2074225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human rate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11480" y="245059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CLASSIFICATION REPORT</a:t>
            </a:r>
            <a:endParaRPr lang="en-US" sz="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688336"/>
          <a:ext cx="4572000" cy="1353312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6B8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Class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6B8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Precision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6B8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Recall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6B8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F1-Score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6B8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Support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Human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F4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B34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0.63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F4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B8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1,048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5370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Bot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FFB34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00D4A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F4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B8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1,318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E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38BD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Macro Avg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F4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0.85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F4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0.79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E8F4F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0.80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6B8CA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2,366</a:t>
                      </a:r>
                      <a:endParaRPr lang="en-US" sz="10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5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" name="Text 36"/>
          <p:cNvSpPr/>
          <p:nvPr/>
        </p:nvSpPr>
        <p:spPr>
          <a:xfrm>
            <a:off x="9738360" y="270662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0.815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FF5370">
              <a:alpha val="20000"/>
            </a:srgbClr>
          </a:solidFill>
          <a:ln w="6350">
            <a:solidFill>
              <a:srgbClr val="FF537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RESULTS (2/2)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&amp; Ablation Study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A (all) vs Model B (no verified) — proving behavioral independence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CONFUSION MATRIX — MODEL A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97280" y="1481328"/>
            <a:ext cx="3017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Predicted Human   |   Predicted Bot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822960" y="1719072"/>
            <a:ext cx="1417320" cy="960120"/>
          </a:xfrm>
          <a:prstGeom prst="rect">
            <a:avLst/>
          </a:prstGeom>
          <a:solidFill>
            <a:srgbClr val="002D1A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719072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22960" y="2304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Human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304288" y="1719072"/>
            <a:ext cx="1417320" cy="960120"/>
          </a:xfrm>
          <a:prstGeom prst="rect">
            <a:avLst/>
          </a:prstGeom>
          <a:solidFill>
            <a:srgbClr val="2D0A10"/>
          </a:solidFill>
          <a:ln w="19050">
            <a:solidFill>
              <a:srgbClr val="FF53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04288" y="1719072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2304288" y="23042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 Bot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2743200"/>
            <a:ext cx="1417320" cy="960120"/>
          </a:xfrm>
          <a:prstGeom prst="rect">
            <a:avLst/>
          </a:prstGeom>
          <a:solidFill>
            <a:srgbClr val="2D1A00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274320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22960" y="332841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Missed Bot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304288" y="2743200"/>
            <a:ext cx="1417320" cy="960120"/>
          </a:xfrm>
          <a:prstGeom prst="rect">
            <a:avLst/>
          </a:prstGeom>
          <a:solidFill>
            <a:srgbClr val="001A10"/>
          </a:solidFill>
          <a:ln w="19050">
            <a:solidFill>
              <a:srgbClr val="00D4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04288" y="274320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1,265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2304288" y="3328416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 Bot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 rot="16200000">
            <a:off x="109728" y="1719072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Actual Human →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 rot="16200000">
            <a:off x="109728" y="2743200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Actual Bot →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297680" y="123444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A vs B — ABLATION STUDY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97680" y="1508760"/>
            <a:ext cx="4572000" cy="1280160"/>
          </a:xfrm>
          <a:prstGeom prst="rect">
            <a:avLst/>
          </a:prstGeom>
          <a:solidFill>
            <a:srgbClr val="0D1F35"/>
          </a:solidFill>
          <a:ln w="9525">
            <a:solidFill>
              <a:srgbClr val="00D4A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97680" y="1508760"/>
            <a:ext cx="45720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34840" y="160020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— All Features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434840" y="184708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(includes 'verified')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434840" y="20756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81.0%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434840" y="24048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852160" y="20756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0.8649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852160" y="24048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AUC-ROC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269480" y="20756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7269480" y="240487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F1-Bot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297680" y="2926080"/>
            <a:ext cx="4572000" cy="1280160"/>
          </a:xfrm>
          <a:prstGeom prst="rect">
            <a:avLst/>
          </a:prstGeom>
          <a:solidFill>
            <a:srgbClr val="0D1F35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297680" y="2926080"/>
            <a:ext cx="457200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34840" y="301752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 — Behavioral Only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434840" y="32644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(verified removed)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4434840" y="349300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~74%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4434840" y="38221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852160" y="349300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~0.81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5852160" y="38221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AUC-ROC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269480" y="349300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~0.79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7269480" y="382219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F1-Bot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297680" y="4370832"/>
            <a:ext cx="4572000" cy="594360"/>
          </a:xfrm>
          <a:prstGeom prst="rect">
            <a:avLst/>
          </a:prstGeom>
          <a:solidFill>
            <a:srgbClr val="0D1F35"/>
          </a:solidFill>
          <a:ln w="9525">
            <a:solidFill>
              <a:srgbClr val="FFB34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34840" y="4407408"/>
            <a:ext cx="4297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INSIGHT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434840" y="459028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~7% accuracy drop when removing 'verified' proves behavioral features (timing, NLP, network, coordination) genuinely carry the signal — not just a shortcut.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A78BFA">
              <a:alpha val="20000"/>
            </a:srgbClr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BEHAVIOURAL INSIGHTS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Behavioural Insights from the Model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the data reveals about how bots behave differently from humans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261872"/>
            <a:ext cx="2743200" cy="1664208"/>
          </a:xfrm>
          <a:prstGeom prst="rect">
            <a:avLst/>
          </a:prstGeom>
          <a:solidFill>
            <a:srgbClr val="0D1F35"/>
          </a:solidFill>
          <a:ln w="7620">
            <a:solidFill>
              <a:srgbClr val="FF537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1261872"/>
            <a:ext cx="2743200" cy="45720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1208" y="135331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Timing Regularity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371600"/>
            <a:ext cx="548640" cy="201168"/>
          </a:xfrm>
          <a:prstGeom prst="rect">
            <a:avLst/>
          </a:prstGeom>
          <a:solidFill>
            <a:srgbClr val="FF5370">
              <a:alpha val="20000"/>
            </a:srgbClr>
          </a:solidFill>
          <a:ln w="6350">
            <a:solidFill>
              <a:srgbClr val="FF537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0320" y="13716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53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521208" y="1645920"/>
            <a:ext cx="254203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post at fixed intervals with near-zero std_interval_sec. Human posting is chaotic — lunch breaks, weekends, late nights create natural irregularity. interval_entropy is low for bots because intervals cluster in just 1–2 bins out of 24.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264408" y="1261872"/>
            <a:ext cx="2743200" cy="1664208"/>
          </a:xfrm>
          <a:prstGeom prst="rect">
            <a:avLst/>
          </a:prstGeom>
          <a:solidFill>
            <a:srgbClr val="0D1F35"/>
          </a:solidFill>
          <a:ln w="7620">
            <a:solidFill>
              <a:srgbClr val="FFB34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64408" y="1261872"/>
            <a:ext cx="2743200" cy="4572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74136" y="135331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💥  Burst Behaviour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13248" y="1371600"/>
            <a:ext cx="548640" cy="201168"/>
          </a:xfrm>
          <a:prstGeom prst="rect">
            <a:avLst/>
          </a:prstGeom>
          <a:solidFill>
            <a:srgbClr val="FFB347">
              <a:alpha val="20000"/>
            </a:srgbClr>
          </a:solidFill>
          <a:ln w="6350">
            <a:solidFill>
              <a:srgbClr val="FFB34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13248" y="13716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3374136" y="1645920"/>
            <a:ext cx="254203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burst_ratio &gt; 0.5 means the account posts multiple times per minute. This is mechanically impossible for a human typing in real time. Combined with low daily_count_cv, it exposes fully automated posting pipelines.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117336" y="1261872"/>
            <a:ext cx="2743200" cy="1664208"/>
          </a:xfrm>
          <a:prstGeom prst="rect">
            <a:avLst/>
          </a:prstGeom>
          <a:solidFill>
            <a:srgbClr val="0D1F35"/>
          </a:solidFill>
          <a:ln w="7620">
            <a:solidFill>
              <a:srgbClr val="38BD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17336" y="1261872"/>
            <a:ext cx="274320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27064" y="135331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Linguistic Monotony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66176" y="1371600"/>
            <a:ext cx="548640" cy="201168"/>
          </a:xfrm>
          <a:prstGeom prst="rect">
            <a:avLst/>
          </a:prstGeom>
          <a:solidFill>
            <a:srgbClr val="38BDF8">
              <a:alpha val="20000"/>
            </a:srgbClr>
          </a:solidFill>
          <a:ln w="635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66176" y="137160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6227064" y="1645920"/>
            <a:ext cx="254203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reuse templates → lexical_diversity near 0. Humans write differently every day, use slang, typos, opinions. High retweet_ratio (&gt;0.8) means the account amplifies rather than creates — a pure amplifier bot signature.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11480" y="3017520"/>
            <a:ext cx="2743200" cy="1664208"/>
          </a:xfrm>
          <a:prstGeom prst="rect">
            <a:avLst/>
          </a:prstGeom>
          <a:solidFill>
            <a:srgbClr val="0D1F35"/>
          </a:solidFill>
          <a:ln w="7620">
            <a:solidFill>
              <a:srgbClr val="A78BF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1480" y="3017520"/>
            <a:ext cx="274320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1208" y="310896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Network Anomalies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60320" y="3127248"/>
            <a:ext cx="548640" cy="201168"/>
          </a:xfrm>
          <a:prstGeom prst="rect">
            <a:avLst/>
          </a:prstGeom>
          <a:solidFill>
            <a:srgbClr val="A78BFA">
              <a:alpha val="20000"/>
            </a:srgbClr>
          </a:solidFill>
          <a:ln w="6350">
            <a:solidFill>
              <a:srgbClr val="A78BF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560320" y="31272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521208" y="3401568"/>
            <a:ext cx="254203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Follow-spam bots have following:follower ratios of 100:1. listed_count is the most human-curated signal — you only add accounts you genuinely follow to lists. Bots rarely appear in curated lists because humans recognise them as noise.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64408" y="3017520"/>
            <a:ext cx="2743200" cy="1664208"/>
          </a:xfrm>
          <a:prstGeom prst="rect">
            <a:avLst/>
          </a:prstGeom>
          <a:solidFill>
            <a:srgbClr val="0D1F35"/>
          </a:solidFill>
          <a:ln w="7620">
            <a:solidFill>
              <a:srgbClr val="00D4A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64408" y="3017520"/>
            <a:ext cx="27432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74136" y="310896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Coordination Fingerprint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13248" y="3127248"/>
            <a:ext cx="548640" cy="201168"/>
          </a:xfrm>
          <a:prstGeom prst="rect">
            <a:avLst/>
          </a:prstGeom>
          <a:solidFill>
            <a:srgbClr val="00D4AA">
              <a:alpha val="20000"/>
            </a:srgbClr>
          </a:solidFill>
          <a:ln w="6350">
            <a:solidFill>
              <a:srgbClr val="00D4A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13248" y="31272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3374136" y="3401568"/>
            <a:ext cx="254203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 networks post the same hashtag within 60-second windows across dozens of accounts. This collective timing signature is invisible to single-account analysis but clearly reveals bot farms manufacturing fake trends.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117336" y="3017520"/>
            <a:ext cx="2743200" cy="1664208"/>
          </a:xfrm>
          <a:prstGeom prst="rect">
            <a:avLst/>
          </a:prstGeom>
          <a:solidFill>
            <a:srgbClr val="0D1F35"/>
          </a:solidFill>
          <a:ln w="7620">
            <a:solidFill>
              <a:srgbClr val="6B8CA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17336" y="3017520"/>
            <a:ext cx="2743200" cy="45720"/>
          </a:xfrm>
          <a:prstGeom prst="rect">
            <a:avLst/>
          </a:prstGeom>
          <a:solidFill>
            <a:srgbClr val="6B8CA8"/>
          </a:solidFill>
          <a:ln w="12700">
            <a:solidFill>
              <a:srgbClr val="6B8CA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227064" y="310896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B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🌙  No Biological Rhythm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266176" y="3127248"/>
            <a:ext cx="548640" cy="201168"/>
          </a:xfrm>
          <a:prstGeom prst="rect">
            <a:avLst/>
          </a:prstGeom>
          <a:solidFill>
            <a:srgbClr val="6B8CA8">
              <a:alpha val="20000"/>
            </a:srgbClr>
          </a:solidFill>
          <a:ln w="6350">
            <a:solidFill>
              <a:srgbClr val="6B8CA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66176" y="31272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6227064" y="3401568"/>
            <a:ext cx="2542032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High night_post_ratio combined with low posting_hour_std means the account posts uniformly at all hours — no evidence of sleep, work hours, or time zone. Humans concentrate activity at predictable times of day.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FFB347">
              <a:alpha val="20000"/>
            </a:srgbClr>
          </a:solidFill>
          <a:ln w="6350">
            <a:solidFill>
              <a:srgbClr val="FFB34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PRACTICAL IMPACT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Impact &amp; Real-World Applications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SENTINEL detection can be deployed and what it protects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261872"/>
            <a:ext cx="4023360" cy="1572768"/>
          </a:xfrm>
          <a:prstGeom prst="rect">
            <a:avLst/>
          </a:prstGeom>
          <a:solidFill>
            <a:srgbClr val="0D1F35"/>
          </a:solidFill>
          <a:ln w="9525">
            <a:solidFill>
              <a:srgbClr val="FF5370"/>
            </a:solidFill>
            <a:prstDash val="solid"/>
          </a:ln>
          <a:effectLst>
            <a:outerShdw blurRad="1524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" y="1261872"/>
            <a:ext cx="4023360" cy="54864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3533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🗳  Election Integrity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7007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 farms manufacture fake trending topics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19751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during elections to manipulate public opinion.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48640" y="2249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SENTINEL can flag coordinated campaigns in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48640" y="252374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real-time before they reach critical mass.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63440" y="1261872"/>
            <a:ext cx="4023360" cy="1572768"/>
          </a:xfrm>
          <a:prstGeom prst="rect">
            <a:avLst/>
          </a:prstGeom>
          <a:solidFill>
            <a:srgbClr val="0D1F35"/>
          </a:solidFill>
          <a:ln w="9525">
            <a:solidFill>
              <a:srgbClr val="00D4AA"/>
            </a:solidFill>
            <a:prstDash val="solid"/>
          </a:ln>
          <a:effectLst>
            <a:outerShdw blurRad="1524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1261872"/>
            <a:ext cx="402336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13533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🏷  Brand Safety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800600" y="170078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Advertisers pay for 'reach' to real humans.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800600" y="197510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Fake engagement inflates metrics, wasting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00600" y="2249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billions in ad spend. Authenticity scores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800600" y="252374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 media buying decisions.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11480" y="2980944"/>
            <a:ext cx="4023360" cy="1572768"/>
          </a:xfrm>
          <a:prstGeom prst="rect">
            <a:avLst/>
          </a:prstGeom>
          <a:solidFill>
            <a:srgbClr val="0D1F35"/>
          </a:solidFill>
          <a:ln w="9525">
            <a:solidFill>
              <a:srgbClr val="38BDF8"/>
            </a:solidFill>
            <a:prstDash val="solid"/>
          </a:ln>
          <a:effectLst>
            <a:outerShdw blurRad="1524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11480" y="2980944"/>
            <a:ext cx="402336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307238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  Platform Trust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34198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Social media platforms need scalable tools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48640" y="369417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 proactively suspend bot accounts before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8640" y="3968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they accumulate influence, not reactively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424281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 damage is done.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980944"/>
            <a:ext cx="4023360" cy="1572768"/>
          </a:xfrm>
          <a:prstGeom prst="rect">
            <a:avLst/>
          </a:prstGeom>
          <a:solidFill>
            <a:srgbClr val="0D1F35"/>
          </a:solidFill>
          <a:ln w="9525">
            <a:solidFill>
              <a:srgbClr val="A78BFA"/>
            </a:solidFill>
            <a:prstDash val="solid"/>
          </a:ln>
          <a:effectLst>
            <a:outerShdw blurRad="1524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663440" y="2980944"/>
            <a:ext cx="402336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0600" y="307238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📡  Misinformation Control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800600" y="34198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 narratives go viral when bot networks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00600" y="369417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amplify them simultaneously. Detecting the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00600" y="3968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coordination fingerprint early breaks the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4800600" y="424281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artificial amplification loop.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0" y="4796028"/>
            <a:ext cx="9144000" cy="347472"/>
          </a:xfrm>
          <a:prstGeom prst="rect">
            <a:avLst/>
          </a:prstGeom>
          <a:solidFill>
            <a:srgbClr val="0A1628"/>
          </a:solidFill>
          <a:ln w="6350">
            <a:solidFill>
              <a:srgbClr val="1A355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796028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5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DEPLOY:  REST API  ·  Browser Extension  ·  Batch CSV Scoring  ·  Real-time Dashboard  ·  Platform Integration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208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solidFill>
            <a:srgbClr val="38BDF8">
              <a:alpha val="20000"/>
            </a:srgbClr>
          </a:solidFill>
          <a:ln w="6350">
            <a:solidFill>
              <a:srgbClr val="38BDF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040880" y="2011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kern="0" spc="2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FUTURE SCOPE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411480" y="256032"/>
            <a:ext cx="45720" cy="77724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56032"/>
            <a:ext cx="6400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Scope &amp; Improvements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713232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Roadmap to make SENTINEL more robust, explainable, and adversarially hardened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8321040" cy="0"/>
          </a:xfrm>
          <a:prstGeom prst="line">
            <a:avLst/>
          </a:prstGeom>
          <a:noFill/>
          <a:ln w="9525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261872"/>
            <a:ext cx="2743200" cy="3611880"/>
          </a:xfrm>
          <a:prstGeom prst="rect">
            <a:avLst/>
          </a:prstGeom>
          <a:solidFill>
            <a:srgbClr val="0D1F35"/>
          </a:solidFill>
          <a:ln w="9525">
            <a:solidFill>
              <a:srgbClr val="00D4A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1261872"/>
            <a:ext cx="2743200" cy="54864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3167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SHORT-TERM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166420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" y="171907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SHAP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12648" y="193852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Pin xgboost==1.7.6 + shap==0.42.1. Per-prediction waterfall plots for audit trails.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267004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2648" y="272491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 on tweets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12648" y="294436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Fine-tune RoBERTa on tweet text. Captures linguistic style bots can't easily mimic.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48640" y="367588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" y="37307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features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12648" y="39502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 the 'neighbor' field in TwiBot-20 — clustering coefficient, bot-neighbor ratio.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37560" y="1261872"/>
            <a:ext cx="2743200" cy="3611880"/>
          </a:xfrm>
          <a:prstGeom prst="rect">
            <a:avLst/>
          </a:prstGeom>
          <a:solidFill>
            <a:srgbClr val="0D1F35"/>
          </a:solidFill>
          <a:ln w="9525">
            <a:solidFill>
              <a:srgbClr val="38BDF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37560" y="1261872"/>
            <a:ext cx="2743200" cy="54864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13167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MEDIUM-TERM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74720" y="166420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38728" y="171907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split eval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538728" y="193852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on old accounts, test on new ones — simulates real deployment drift.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474720" y="267004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38728" y="272491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taxonomy v2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538728" y="294436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More than 4 types: political bots, crypto spam bots, fake follower bots.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3474720" y="367588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38728" y="37307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model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538728" y="39502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GraphSAGE/GAT on the full social graph. Structure beats content for detection.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263640" y="1261872"/>
            <a:ext cx="2743200" cy="3611880"/>
          </a:xfrm>
          <a:prstGeom prst="rect">
            <a:avLst/>
          </a:prstGeom>
          <a:solidFill>
            <a:srgbClr val="0D1F35"/>
          </a:solidFill>
          <a:ln w="9525">
            <a:solidFill>
              <a:srgbClr val="A78BF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63640" y="1261872"/>
            <a:ext cx="274320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0" y="1316736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LONG-TERM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0" y="166420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64808" y="171907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robustness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464808" y="193852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against bots that deliberately mimic human timing distributions.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400800" y="267004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64808" y="272491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Cross-platform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464808" y="294436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 to Instagram, Reddit, TikTok using platform-invariant behavioral signals.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400800" y="3675888"/>
            <a:ext cx="2468880" cy="896112"/>
          </a:xfrm>
          <a:prstGeom prst="rect">
            <a:avLst/>
          </a:prstGeom>
          <a:solidFill>
            <a:srgbClr val="111E33"/>
          </a:solidFill>
          <a:ln w="5080">
            <a:solidFill>
              <a:srgbClr val="1A355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64808" y="373075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learning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464808" y="3950208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Train across platforms without sharing private data for privacy compliance.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0A1628"/>
          </a:solidFill>
          <a:ln w="6350">
            <a:solidFill>
              <a:srgbClr val="1A35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8640" y="4759452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30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RESEARCH:  Adversarial Bot Arms Race  ·  LLM-generated Bots (ChatGPT-written tweets)  ·  Temporal Concept Drift  ·  Zero-shot Cross-platform Transfer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0" y="0"/>
            <a:ext cx="4114800" cy="0"/>
          </a:xfrm>
          <a:prstGeom prst="line">
            <a:avLst/>
          </a:prstGeom>
          <a:noFill/>
          <a:ln w="5080">
            <a:solidFill>
              <a:srgbClr val="1A355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0" y="868680"/>
            <a:ext cx="4114800" cy="0"/>
          </a:xfrm>
          <a:prstGeom prst="line">
            <a:avLst/>
          </a:prstGeom>
          <a:noFill/>
          <a:ln w="5080">
            <a:solidFill>
              <a:srgbClr val="1A35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0" y="1737360"/>
            <a:ext cx="4114800" cy="0"/>
          </a:xfrm>
          <a:prstGeom prst="line">
            <a:avLst/>
          </a:prstGeom>
          <a:noFill/>
          <a:ln w="5080">
            <a:solidFill>
              <a:srgbClr val="1A35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0" y="2606040"/>
            <a:ext cx="4114800" cy="0"/>
          </a:xfrm>
          <a:prstGeom prst="line">
            <a:avLst/>
          </a:prstGeom>
          <a:noFill/>
          <a:ln w="5080">
            <a:solidFill>
              <a:srgbClr val="1A35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0" y="3474720"/>
            <a:ext cx="4114800" cy="0"/>
          </a:xfrm>
          <a:prstGeom prst="line">
            <a:avLst/>
          </a:prstGeom>
          <a:noFill/>
          <a:ln w="5080">
            <a:solidFill>
              <a:srgbClr val="1A35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0" y="4343400"/>
            <a:ext cx="4114800" cy="0"/>
          </a:xfrm>
          <a:prstGeom prst="line">
            <a:avLst/>
          </a:prstGeom>
          <a:noFill/>
          <a:ln w="5080">
            <a:solidFill>
              <a:srgbClr val="1A35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64008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kern="0" spc="6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320040" y="1536192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 —  Advanced Fake Engagement Detection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2221992"/>
            <a:ext cx="91440" cy="9144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14884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81% accuracy · 0.865 AUC-ROC on TwiBot-20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2642616"/>
            <a:ext cx="91440" cy="9144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56946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 features: Profile + Timing + NLP + Coordination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3063240"/>
            <a:ext cx="91440" cy="9144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990088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Two models: ablation proves behavioral independence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483864"/>
            <a:ext cx="91440" cy="9144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3410712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 taxonomy: 4 sub-types via K-Means clustering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904488"/>
            <a:ext cx="91440" cy="9144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" y="3831336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Coordinated detection: cross-account co-activity graph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040" y="4325112"/>
            <a:ext cx="91440" cy="91440"/>
          </a:xfrm>
          <a:prstGeom prst="ellipse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425196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 explainability for audit-ready predictions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212080" y="457200"/>
            <a:ext cx="1828800" cy="105156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212080" y="457200"/>
            <a:ext cx="18288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303520" y="594360"/>
            <a:ext cx="164592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81%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5303520" y="114071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303520" y="131947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Set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132320" y="457200"/>
            <a:ext cx="1828800" cy="105156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0" y="457200"/>
            <a:ext cx="1828800" cy="457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23760" y="594360"/>
            <a:ext cx="164592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8B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0.865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7223760" y="114071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223760" y="131947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Discrimination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212080" y="1600200"/>
            <a:ext cx="1828800" cy="105156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212080" y="1600200"/>
            <a:ext cx="1828800" cy="45720"/>
          </a:xfrm>
          <a:prstGeom prst="rect">
            <a:avLst/>
          </a:prstGeom>
          <a:solidFill>
            <a:srgbClr val="FF5370"/>
          </a:solidFill>
          <a:ln w="12700">
            <a:solidFill>
              <a:srgbClr val="FF537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03520" y="1737360"/>
            <a:ext cx="164592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5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5303520" y="228371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Recall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303520" y="246247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Bots Caught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132320" y="1600200"/>
            <a:ext cx="1828800" cy="105156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132320" y="1600200"/>
            <a:ext cx="1828800" cy="4572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3760" y="1737360"/>
            <a:ext cx="164592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2800" dirty="0"/>
          </a:p>
        </p:txBody>
      </p:sp>
      <p:sp>
        <p:nvSpPr>
          <p:cNvPr id="41" name="Text 39"/>
          <p:cNvSpPr/>
          <p:nvPr/>
        </p:nvSpPr>
        <p:spPr>
          <a:xfrm>
            <a:off x="7223760" y="228371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223760" y="246247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 Pipeline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5212080" y="2743200"/>
            <a:ext cx="1828800" cy="105156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5212080" y="2743200"/>
            <a:ext cx="1828800" cy="45720"/>
          </a:xfrm>
          <a:prstGeom prst="rect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303520" y="2880360"/>
            <a:ext cx="164592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B3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46" name="Text 44"/>
          <p:cNvSpPr/>
          <p:nvPr/>
        </p:nvSpPr>
        <p:spPr>
          <a:xfrm>
            <a:off x="5303520" y="342671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Types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03520" y="360547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K-Means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132320" y="2743200"/>
            <a:ext cx="1828800" cy="1051560"/>
          </a:xfrm>
          <a:prstGeom prst="rect">
            <a:avLst/>
          </a:prstGeom>
          <a:solidFill>
            <a:srgbClr val="0D1F35"/>
          </a:solidFill>
          <a:ln w="9525">
            <a:solidFill>
              <a:srgbClr val="1A3550"/>
            </a:solidFill>
            <a:prstDash val="solid"/>
          </a:ln>
          <a:effectLst>
            <a:outerShdw blurRad="152400" dist="381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7132320" y="2743200"/>
            <a:ext cx="1828800" cy="45720"/>
          </a:xfrm>
          <a:prstGeom prst="rect">
            <a:avLst/>
          </a:prstGeom>
          <a:solidFill>
            <a:srgbClr val="00D4AA"/>
          </a:solidFill>
          <a:ln w="12700">
            <a:solidFill>
              <a:srgbClr val="00D4A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223760" y="2880360"/>
            <a:ext cx="1645920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60s</a:t>
            </a:r>
            <a:endParaRPr lang="en-US" sz="2800" dirty="0"/>
          </a:p>
        </p:txBody>
      </p:sp>
      <p:sp>
        <p:nvSpPr>
          <p:cNvPr id="51" name="Text 49"/>
          <p:cNvSpPr/>
          <p:nvPr/>
        </p:nvSpPr>
        <p:spPr>
          <a:xfrm>
            <a:off x="7223760" y="342671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 Window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223760" y="360547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8C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Co-activity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0" y="4759452"/>
            <a:ext cx="9144000" cy="384048"/>
          </a:xfrm>
          <a:prstGeom prst="rect">
            <a:avLst/>
          </a:prstGeom>
          <a:solidFill>
            <a:srgbClr val="00D4AA">
              <a:alpha val="10000"/>
            </a:srgbClr>
          </a:solidFill>
          <a:ln w="6350">
            <a:solidFill>
              <a:srgbClr val="00D4A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2880" y="4759452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8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Behavior Analytics Hackathon  ·  Problem Statement 3  ·  Fake Engagement Detection in Social Media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1830</Words>
  <Application>Microsoft Office PowerPoint</Application>
  <PresentationFormat>On-screen Show (16:9)</PresentationFormat>
  <Paragraphs>406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Fake Engagement Detection</dc:title>
  <dc:subject>PptxGenJS Presentation</dc:subject>
  <dc:creator>PptxGenJS</dc:creator>
  <cp:lastModifiedBy>Rishikesh M Ramasubramaniyan</cp:lastModifiedBy>
  <cp:revision>2</cp:revision>
  <dcterms:created xsi:type="dcterms:W3CDTF">2026-02-28T13:22:15Z</dcterms:created>
  <dcterms:modified xsi:type="dcterms:W3CDTF">2026-02-28T19:31:57Z</dcterms:modified>
</cp:coreProperties>
</file>