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dot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1440" y="3840480"/>
            <a:ext cx="1645920" cy="1188720"/>
          </a:xfrm>
          <a:prstGeom prst="rect">
            <a:avLst/>
          </a:prstGeom>
        </p:spPr>
      </p:pic>
      <p:pic>
        <p:nvPicPr>
          <p:cNvPr id="5" name="Image 3" descr="/home/claude/circuit_lin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3474720"/>
            <a:ext cx="2743200" cy="1371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74320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475488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676656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877824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1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</a:t>
            </a:r>
            <a:endParaRPr lang="en-US" sz="7200" dirty="0"/>
          </a:p>
        </p:txBody>
      </p:sp>
      <p:sp>
        <p:nvSpPr>
          <p:cNvPr id="11" name="Text 5"/>
          <p:cNvSpPr/>
          <p:nvPr/>
        </p:nvSpPr>
        <p:spPr>
          <a:xfrm>
            <a:off x="91440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ENGAGEMENT DETECTION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SOCIAL MEDIA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2286000" y="3063240"/>
            <a:ext cx="457200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  ·  Authenticity Scoring  ·  Behavioural Analysis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Rishikesh M Ramasubramaniyan — 22MIA1163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50D05">
              <a:alpha val="70000"/>
            </a:srgbClr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 ·  27+ Features  ·  TwiBot-20  ·  NLP  ·  Coordination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616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Shape 1"/>
          <p:cNvSpPr/>
          <p:nvPr/>
        </p:nvSpPr>
        <p:spPr>
          <a:xfrm>
            <a:off x="365760" y="10058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65760" y="1005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3657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657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engagement &amp; bot threats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291840" y="10058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91840" y="1005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2918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FEATURES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2918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TwiBot-20 + 42 engineered features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10058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17920" y="1005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v2 model pipeline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8346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6576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6576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 · 0.865 AUC-ROC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91840" y="28346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9184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32918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BEHAVIOURAL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329184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behavioural insights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283464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17920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217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FUTURE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1792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&amp; roadmap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2743200" cy="13716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297680" y="1645920"/>
            <a:ext cx="502920" cy="384048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429768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8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fake engagement in social media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PROBLEM STATEMENT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PROBLEM: FAKE ENGAGEMENT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platforms distorted by bots and coordinated inauthentic behaviour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274320" y="1207008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371600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81328"/>
            <a:ext cx="566928" cy="5669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Manipulation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11887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post at inhuman speeds and fixed intervals to game algorithms and trending topics.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274320" y="2176272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286000"/>
            <a:ext cx="566928" cy="56692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Coordinated Amplification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188720" y="2432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farms post simultaneously to manufacture viral content and false social consensus.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274320" y="2980944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090672"/>
            <a:ext cx="566928" cy="5669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Follow-Spam Inflation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1188720" y="3236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Mass-follow bots inflate follower counts to fake credibility and influence.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274320" y="3785616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895344"/>
            <a:ext cx="566928" cy="5669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88720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Linguistic Deception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118872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bots mimic human language while lacking lexical diversity.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5120640" y="1325880"/>
            <a:ext cx="3749040" cy="1645920"/>
          </a:xfrm>
          <a:prstGeom prst="rect">
            <a:avLst/>
          </a:prstGeom>
          <a:solidFill>
            <a:srgbClr val="0D180D">
              <a:alpha val="80000"/>
            </a:srgbClr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5120640" y="1325880"/>
            <a:ext cx="3749040" cy="36576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212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5212080" y="16459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fake engagement without access to private data, relying only on publicly observable behavioural signals — timing, content patterns, and network structure.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120640" y="3063240"/>
            <a:ext cx="3749040" cy="1920240"/>
          </a:xfrm>
          <a:prstGeom prst="rect">
            <a:avLst/>
          </a:prstGeom>
          <a:solidFill>
            <a:srgbClr val="0D180D">
              <a:alpha val="80000"/>
            </a:srgbClr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5120640" y="3063240"/>
            <a:ext cx="3749040" cy="36576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52120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GOAL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212080" y="340156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a model that classifies accounts as bot or human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Output an Authenticity Score (0–100%) per account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 behavioural anomaly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Detect coordinated inauthentic behaviour across accounts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Explain WHY an account is flagged (SHAP)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DATA &amp; FEATURES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TwiBot-20 DATASET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11,826 labeled Twitter accounts · 3 splits · Rich profile + tweet data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274320" y="1207008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298448"/>
            <a:ext cx="1920240" cy="54864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353312"/>
            <a:ext cx="1920240" cy="100584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898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11,826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32004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Accounts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2167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test + dev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423160" y="1298448"/>
            <a:ext cx="19202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23160" y="1353312"/>
            <a:ext cx="1920240" cy="100584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68880" y="13898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8,278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246888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Accounts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468880" y="2167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train.json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572000" y="1298448"/>
            <a:ext cx="1920240" cy="54864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0" y="1353312"/>
            <a:ext cx="1920240" cy="100584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13898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55.7%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461772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Ratio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617720" y="2167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6,589 bots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720840" y="1298448"/>
            <a:ext cx="1920240" cy="54864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0840" y="1353312"/>
            <a:ext cx="1920240" cy="100584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13898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9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44.3%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676656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Ratio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66560" y="2167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5,237 humans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274320" y="2514600"/>
            <a:ext cx="2743200" cy="23774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22CC2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74320" y="2514600"/>
            <a:ext cx="36576" cy="2377440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4048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Record Structure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84048" y="283464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record contains: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  →  bio, counts, verified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tweet    →  list of recent tweets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neighbor →  social graph edges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   →  content domain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    →  "bot" or "human"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200400" y="2514600"/>
            <a:ext cx="2743200" cy="23774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22CC2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200400" y="2514600"/>
            <a:ext cx="36576" cy="2377440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10128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Challenges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310128" y="283464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JSON is messy: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Mixed types: "True" vs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Null values: None, "null", 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Trailing spaces in strings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Inconsistent label formats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Solution: 4 safe type converters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safe_int / safe_bool / safe_str / safe_url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26480" y="2514600"/>
            <a:ext cx="2743200" cy="23774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22CC2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126480" y="2514600"/>
            <a:ext cx="36576" cy="2377440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36208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Categories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236208" y="2834640"/>
            <a:ext cx="2560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27+ features extracted: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 signals    (17)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Timing patterns    (10)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NLP features       (10)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 ratios      (4)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Coordination score  (1)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42 features in v2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904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FEATURES (1/2)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BEHAVIOURAL FEATURES — PROFILE &amp; TIMING</a:t>
            </a:r>
            <a:endParaRPr lang="en-US" sz="1900" dirty="0"/>
          </a:p>
        </p:txBody>
      </p:sp>
      <p:sp>
        <p:nvSpPr>
          <p:cNvPr id="7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signals + temporal patterns extracted from account metadata and tweet timestamps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207008"/>
            <a:ext cx="4114800" cy="274320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6576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SIGNALS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754880" y="1207008"/>
            <a:ext cx="4114800" cy="274320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84632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PATTERNS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20040" y="1536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followers_count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2004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follower count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74320" y="1929384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1956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follower_following_ratio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20040" y="21396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follow many, have few followers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74320" y="2350008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2004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20040" y="2560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accounts ≈ never bots (81.5% importance)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274320" y="2770632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2798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description_length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20040" y="29809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often have empty bios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74320" y="3191256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3218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username_digit_ratio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20040" y="34015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bot83921 pattern detection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274320" y="3611880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3639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listed_count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320040" y="3822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curation trust signal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74320" y="4032504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059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account_age_days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320040" y="4242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suspicious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274320" y="4453128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20040" y="4480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engagement_rate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320040" y="4663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 ÷ statuses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800600" y="1536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mean_interval_sec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80060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gap between posts — bots are rigid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754880" y="1929384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800600" y="1956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std_interval_sec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4800600" y="21396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std = robot-like regularity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754880" y="2350008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80060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burst_ratio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4800600" y="2560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&lt; 60s apart — automation signal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4754880" y="2770632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800600" y="2798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night_post_ratio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4800600" y="29809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sleep; bots post 24/7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4754880" y="3191256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00600" y="3218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posting_hour_std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4800600" y="34015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show natural time variance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4754880" y="3611880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800600" y="3639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daily_count_cv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4800600" y="3822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CV = identical days = bot pattern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4754880" y="4032504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800600" y="4059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interval_entropy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4800600" y="4242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of posting rhythm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754880" y="4453128"/>
            <a:ext cx="4114800" cy="0"/>
          </a:xfrm>
          <a:prstGeom prst="line">
            <a:avLst/>
          </a:prstGeom>
          <a:noFill/>
          <a:ln w="6350">
            <a:solidFill>
              <a:srgbClr val="1A9900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4800600" y="4480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min_interval_sec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4800600" y="4663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gap ever — floor of automation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048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FEATURES (2/2)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FEATURES — NLP &amp; COORDINATION</a:t>
            </a:r>
            <a:endParaRPr lang="en-US" sz="1900" dirty="0"/>
          </a:p>
        </p:txBody>
      </p:sp>
      <p:sp>
        <p:nvSpPr>
          <p:cNvPr id="7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Text-level signals from tweet content + cross-account temporal co-activity analysis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207008"/>
            <a:ext cx="4114800" cy="274320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6576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/ CONTENT FEATURES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47472" y="1627632"/>
            <a:ext cx="128016" cy="128016"/>
          </a:xfrm>
          <a:prstGeom prst="ellipse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30352" y="15544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hashtag_per_tweet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3035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spam hashtags to game trending topics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47472" y="2194560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0352" y="212140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url_ratio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30352" y="2368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bots post almost nothing but links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47472" y="2761488"/>
            <a:ext cx="128016" cy="128016"/>
          </a:xfrm>
          <a:prstGeom prst="ellipse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30352" y="26883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retweet_ratio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0352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 bots retweet exclusively — no originals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47472" y="3328416"/>
            <a:ext cx="128016" cy="128016"/>
          </a:xfrm>
          <a:prstGeom prst="ellipse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2552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lexical_diversity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0352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repeat templates; low unique word ratio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47472" y="3895344"/>
            <a:ext cx="128016" cy="128016"/>
          </a:xfrm>
          <a:prstGeom prst="ellipse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30352" y="38221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reply_ratio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3035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converse; bots broadcast only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47472" y="4462272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0352" y="43891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orig_content_ratio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30352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retweet_ratio; how much is original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754880" y="1207008"/>
            <a:ext cx="4114800" cy="274320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4632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COORDINATION DETECTION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754880" y="1572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754880" y="18288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all tweet timestamps across all accounts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pair of posts within 60 seconds: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Both accounts get +1 to coordination counter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Normalize all counts to 0–1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coordination_score becomes a model feature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754880" y="3154680"/>
            <a:ext cx="4114800" cy="1737360"/>
          </a:xfrm>
          <a:prstGeom prst="rect">
            <a:avLst/>
          </a:prstGeom>
          <a:solidFill>
            <a:srgbClr val="0D1A0D">
              <a:alpha val="85000"/>
            </a:srgbClr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54880" y="3154680"/>
            <a:ext cx="4114800" cy="36576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46320" y="349300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bots can mimic humans well. Bot NETWORKS leave a collective timing fingerprint — dozens of accounts posting the same hashtag within seconds of each other. This is invisible to single-account analysis.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743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ARCHITECTURE — SENTINEL v2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74320" y="9144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XGBoost models + K-Means taxonomy + SHAP explainability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" y="1152144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298448"/>
            <a:ext cx="1508760" cy="749808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298448"/>
            <a:ext cx="1508760" cy="4572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62456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20040" y="1673352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JSON files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11,826 accounts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1810512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965960" y="1298448"/>
            <a:ext cx="1508760" cy="749808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965960" y="1298448"/>
            <a:ext cx="1508760" cy="4572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0" y="1362456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011680" y="1673352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coercion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502152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0" y="1298448"/>
            <a:ext cx="1508760" cy="749808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0" y="1298448"/>
            <a:ext cx="1508760" cy="4572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03320" y="1362456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703320" y="1673352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193792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349240" y="1298448"/>
            <a:ext cx="1508760" cy="749808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49240" y="1298448"/>
            <a:ext cx="1508760" cy="4572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94960" y="1362456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394960" y="1673352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diversity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6885432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040880" y="1298448"/>
            <a:ext cx="1508760" cy="749808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40880" y="1298448"/>
            <a:ext cx="1508760" cy="4572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86600" y="1362456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086600" y="1673352"/>
            <a:ext cx="14173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 window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Co-activity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544568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74320" y="2194560"/>
            <a:ext cx="182880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74320" y="2194560"/>
            <a:ext cx="1828800" cy="45720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20040" y="2258568"/>
            <a:ext cx="17373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320040" y="2583180"/>
            <a:ext cx="17373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2148840" y="2542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72000" y="2194560"/>
            <a:ext cx="182880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72000" y="2194560"/>
            <a:ext cx="182880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617720" y="2258568"/>
            <a:ext cx="17373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617720" y="2583180"/>
            <a:ext cx="17373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only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2130552" y="3017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274320" y="3127248"/>
            <a:ext cx="196596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74320" y="3127248"/>
            <a:ext cx="1965960" cy="45720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20040" y="3191256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320040" y="3515868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4 types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2267712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423160" y="3127248"/>
            <a:ext cx="196596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423160" y="3127248"/>
            <a:ext cx="1965960" cy="45720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468880" y="3191256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Explainer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2468880" y="3515868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4416552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572000" y="3127248"/>
            <a:ext cx="196596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572000" y="3127248"/>
            <a:ext cx="1965960" cy="45720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17720" y="3191256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4617720" y="3515868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P(bot)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6565392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C22"/>
                </a:solidFill>
              </a:rPr>
              <a:t>→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6720840" y="3127248"/>
            <a:ext cx="1965960" cy="777240"/>
          </a:xfrm>
          <a:prstGeom prst="rect">
            <a:avLst/>
          </a:prstGeom>
          <a:solidFill>
            <a:srgbClr val="0D1A0D">
              <a:alpha val="90000"/>
            </a:srgbClr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720840" y="3127248"/>
            <a:ext cx="1965960" cy="45720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766560" y="3191256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850" dirty="0"/>
          </a:p>
        </p:txBody>
      </p:sp>
      <p:sp>
        <p:nvSpPr>
          <p:cNvPr id="61" name="Text 57"/>
          <p:cNvSpPr/>
          <p:nvPr/>
        </p:nvSpPr>
        <p:spPr>
          <a:xfrm>
            <a:off x="6766560" y="3515868"/>
            <a:ext cx="18745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74320" y="40233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HYPERPARAMETERS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27432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27432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17373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2"/>
          <p:cNvSpPr/>
          <p:nvPr/>
        </p:nvSpPr>
        <p:spPr>
          <a:xfrm>
            <a:off x="173736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32004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600" dirty="0"/>
          </a:p>
        </p:txBody>
      </p:sp>
      <p:sp>
        <p:nvSpPr>
          <p:cNvPr id="68" name="Text 64"/>
          <p:cNvSpPr/>
          <p:nvPr/>
        </p:nvSpPr>
        <p:spPr>
          <a:xfrm>
            <a:off x="320040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6634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600" dirty="0"/>
          </a:p>
        </p:txBody>
      </p:sp>
      <p:sp>
        <p:nvSpPr>
          <p:cNvPr id="70" name="Text 66"/>
          <p:cNvSpPr/>
          <p:nvPr/>
        </p:nvSpPr>
        <p:spPr>
          <a:xfrm>
            <a:off x="466344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612648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600" dirty="0"/>
          </a:p>
        </p:txBody>
      </p:sp>
      <p:sp>
        <p:nvSpPr>
          <p:cNvPr id="72" name="Text 68"/>
          <p:cNvSpPr/>
          <p:nvPr/>
        </p:nvSpPr>
        <p:spPr>
          <a:xfrm>
            <a:off x="612648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test_split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758952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600" dirty="0"/>
          </a:p>
        </p:txBody>
      </p:sp>
      <p:sp>
        <p:nvSpPr>
          <p:cNvPr id="74" name="Text 70"/>
          <p:cNvSpPr/>
          <p:nvPr/>
        </p:nvSpPr>
        <p:spPr>
          <a:xfrm>
            <a:off x="758952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904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RESULTS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RESULTS — PERFORMANCE METRICS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A (all features) · 2,366 test samples · TwiBot-20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280160"/>
            <a:ext cx="1627632" cy="54864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74320" y="1335024"/>
            <a:ext cx="1627632" cy="105156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040" y="13716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81.0%</a:t>
            </a:r>
            <a:endParaRPr lang="en-US" sz="3200" dirty="0"/>
          </a:p>
        </p:txBody>
      </p:sp>
      <p:sp>
        <p:nvSpPr>
          <p:cNvPr id="12" name="Text 7"/>
          <p:cNvSpPr/>
          <p:nvPr/>
        </p:nvSpPr>
        <p:spPr>
          <a:xfrm>
            <a:off x="320040" y="1993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2176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set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1993392" y="1280160"/>
            <a:ext cx="162763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993392" y="1335024"/>
            <a:ext cx="1627632" cy="105156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039112" y="13716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0.865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2039112" y="1993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039112" y="2176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3712464" y="1280160"/>
            <a:ext cx="1627632" cy="54864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12464" y="1335024"/>
            <a:ext cx="1627632" cy="105156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758184" y="13716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0.865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3758184" y="1993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758184" y="2176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PR-curve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5431536" y="1280160"/>
            <a:ext cx="1627632" cy="54864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31536" y="1335024"/>
            <a:ext cx="1627632" cy="105156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77256" y="13716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9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</a:t>
            </a:r>
            <a:endParaRPr lang="en-US" sz="3200" dirty="0"/>
          </a:p>
        </p:txBody>
      </p:sp>
      <p:sp>
        <p:nvSpPr>
          <p:cNvPr id="27" name="Text 22"/>
          <p:cNvSpPr/>
          <p:nvPr/>
        </p:nvSpPr>
        <p:spPr>
          <a:xfrm>
            <a:off x="5477256" y="1993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Recall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77256" y="2176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caught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7150608" y="1280160"/>
            <a:ext cx="1627632" cy="54864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50608" y="1335024"/>
            <a:ext cx="1627632" cy="1051560"/>
          </a:xfrm>
          <a:prstGeom prst="rect">
            <a:avLst/>
          </a:prstGeom>
          <a:solidFill>
            <a:srgbClr val="0D180D">
              <a:alpha val="80000"/>
            </a:srgbClr>
          </a:solidFill>
          <a:ln w="6350">
            <a:solidFill>
              <a:srgbClr val="60706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196328" y="13716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93%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7196328" y="1993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Prec.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196328" y="2176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human rate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27432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 REPORT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24912"/>
          <a:ext cx="502920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Precision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Recall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F1-Score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Support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Human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1,048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1,318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2,366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</a:tbl>
          </a:graphicData>
        </a:graphic>
      </p:graphicFrame>
      <p:sp>
        <p:nvSpPr>
          <p:cNvPr id="36" name="Shape 30"/>
          <p:cNvSpPr/>
          <p:nvPr/>
        </p:nvSpPr>
        <p:spPr>
          <a:xfrm>
            <a:off x="5669280" y="2487168"/>
            <a:ext cx="3200400" cy="2011680"/>
          </a:xfrm>
          <a:prstGeom prst="rect">
            <a:avLst/>
          </a:prstGeom>
          <a:solidFill>
            <a:srgbClr val="0D180D">
              <a:alpha val="85000"/>
            </a:srgbClr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669280" y="2487168"/>
            <a:ext cx="3200400" cy="36576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66928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0.815</a:t>
            </a:r>
            <a:endParaRPr lang="en-US" sz="5600" dirty="0"/>
          </a:p>
        </p:txBody>
      </p:sp>
      <p:sp>
        <p:nvSpPr>
          <p:cNvPr id="39" name="Text 33"/>
          <p:cNvSpPr/>
          <p:nvPr/>
        </p:nvSpPr>
        <p:spPr>
          <a:xfrm>
            <a:off x="566928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669280" y="3749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 across bot + human classes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RESULTS (2/2)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 &amp; ABLATION STUDY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(all) vs Model B (no verified) — proving behavioral independence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207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 — MODEL A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438912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Predicted Human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Predicted Bot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Actual Human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CC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CC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Human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388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 Bot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Actual Bot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1A6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1A6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Missed Bot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9D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1,265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9D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Bot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00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0292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 vs B — ABLATION STUDY</a:t>
            </a:r>
            <a:endParaRPr lang="en-US" sz="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81328"/>
          <a:ext cx="3840480" cy="13716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1A6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 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 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Accuracy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81.0%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~74%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AUC-ROC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0.865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~0.81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F1-Bot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F0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~0.79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0D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029200" y="2926080"/>
            <a:ext cx="3840480" cy="1965960"/>
          </a:xfrm>
          <a:prstGeom prst="rect">
            <a:avLst/>
          </a:prstGeom>
          <a:solidFill>
            <a:srgbClr val="0D180D">
              <a:alpha val="85000"/>
            </a:srgbClr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029200" y="2926080"/>
            <a:ext cx="3840480" cy="36576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12064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120640" y="3255264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~7% accuracy drop when removing 'verified' proves behavioral features (timing, NLP, network, coordination) genuinely carry the signal — not just a shortcut.</a:t>
            </a:r>
            <a:endParaRPr lang="en-US" sz="950" dirty="0"/>
          </a:p>
        </p:txBody>
      </p:sp>
      <p:pic>
        <p:nvPicPr>
          <p:cNvPr id="16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2743200" cy="1371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904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BEHAVIOURAL INSIGHTS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BEHAVIOURAL INSIGHTS FROM THE MODEL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how bots behave differently from humans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261872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FF1A6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74320" y="1261872"/>
            <a:ext cx="2743200" cy="36576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65760" y="1335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Regularity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377440" y="1325880"/>
            <a:ext cx="566928" cy="219456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377440" y="13258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365760" y="16093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post at fixed intervals with near-zero std_interval_sec. Human posting is chaotic — lunch breaks, weekends, late nights create natural irregularity. interval_entropy is low for bots.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00400" y="1261872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200400" y="1261872"/>
            <a:ext cx="2743200" cy="365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91840" y="1335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Burst Behaviour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303520" y="1325880"/>
            <a:ext cx="566928" cy="21945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03520" y="13258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3291840" y="16093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burst_ratio &gt; 0.5 means the account posts multiple times per minute. This is mechanically impossible for a human typing in real time. Combined with low daily_count_cv, it exposes fully automated pipelines.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6126480" y="1261872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00CCA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26480" y="1261872"/>
            <a:ext cx="2743200" cy="36576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17920" y="1335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Linguistic Monotony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229600" y="1325880"/>
            <a:ext cx="566928" cy="219456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0" y="13258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6217920" y="16093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reuse templates → lexical_diversity near 0. Humans write differently every day, use slang, typos, opinions. High retweet_ratio (&gt;0.8) means the account amplifies rather than creates.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274320" y="3072384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39D6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3072384"/>
            <a:ext cx="2743200" cy="36576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576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Anomalies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2377440" y="3136392"/>
            <a:ext cx="566928" cy="219456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77440" y="31363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365760" y="341985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Follow-spam bots have following:follower ratios of 100:1. listed_count is the most human-curated signal — you only add accounts you genuinely follow to lists. Bots rarely appear in curated lists.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3200400" y="3072384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33FF3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200400" y="3072384"/>
            <a:ext cx="2743200" cy="36576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29184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Coordination Fingerprint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303520" y="3136392"/>
            <a:ext cx="566928" cy="219456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03520" y="31363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3291840" y="341985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networks post the same hashtag within 60-second windows across dozens of accounts. This collective timing signature is invisible to single-account analysis but clearly reveals bot farms.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126480" y="3072384"/>
            <a:ext cx="2743200" cy="169164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26480" y="3072384"/>
            <a:ext cx="2743200" cy="365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1792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Biological Rhythm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229600" y="3136392"/>
            <a:ext cx="566928" cy="21945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29600" y="31363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6217920" y="341985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night_post_ratio combined with low posting_hour_std means the account posts uniformly at all hours — no evidence of sleep, work hours, or time zone. Humans concentrate activity predictably.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8046720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247888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449056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650224" y="489204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circuit_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27432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PRACTICAL IMPACT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IMPACT &amp; REAL-WORLD APPLICATIONS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SENTINEL detection can be deployed and what it protects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1298448"/>
            <a:ext cx="4114800" cy="160020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FF1A6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65760" y="1700784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10512"/>
            <a:ext cx="566928" cy="5669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Election Integrity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280160" y="1682496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farms manufacture fake trending topics during elections to manipulate public opinion. SENTINEL can flag coordinated campaigns in real-time before they reach critical mass.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4617720" y="1298448"/>
            <a:ext cx="4114800" cy="160020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709160" y="1700784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810512"/>
            <a:ext cx="566928" cy="5669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235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Safety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623560" y="1682496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 pay for 'reach' to real humans. Fake engagement inflates metrics, wasting billions in ad spend. Authenticity scores protect media buying decisions.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274320" y="3035808"/>
            <a:ext cx="4114800" cy="160020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00CCA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365760" y="3438144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547872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Trust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280160" y="3419856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platforms need scalable tools to proactively suspend bot accounts before they accumulate influence, not reactively after damage is done.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4617720" y="3035808"/>
            <a:ext cx="4114800" cy="1600200"/>
          </a:xfrm>
          <a:prstGeom prst="rect">
            <a:avLst/>
          </a:prstGeom>
          <a:solidFill>
            <a:srgbClr val="0D180D">
              <a:alpha val="80000"/>
            </a:srgbClr>
          </a:solidFill>
          <a:ln w="9525">
            <a:solidFill>
              <a:srgbClr val="39D60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709160" y="3438144"/>
            <a:ext cx="777240" cy="777240"/>
          </a:xfrm>
          <a:prstGeom prst="rect">
            <a:avLst/>
          </a:prstGeom>
          <a:solidFill>
            <a:srgbClr val="22CC00"/>
          </a:solidFill>
          <a:ln w="12700">
            <a:solidFill>
              <a:srgbClr val="22CC0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547872"/>
            <a:ext cx="566928" cy="5669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6235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Misinformation Control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623560" y="3419856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narratives go viral when bot networks amplify them simultaneously. Detecting the coordination fingerprint early breaks the artificial amplification loop.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365760" y="4654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DEPLOY:  REST API  ·  Browser Extension  ·  Batch CSV Scoring  ·  Real-time Dashboard  ·  Platform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5720"/>
            <a:ext cx="16459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6032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C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FUTURE SCOPE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 &amp; IMPROVEMENTS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make SENTINEL more robust, explainable, and adversarially hardened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274320" y="1133856"/>
            <a:ext cx="859536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261872"/>
            <a:ext cx="2743200" cy="347472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169164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00CCA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691640"/>
            <a:ext cx="36576" cy="1005840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SHAP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5760" y="199339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xgboost==1.7.6 + shap==0.42.1. Per-prediction waterfall plots for audit trails.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78892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00CCA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788920"/>
            <a:ext cx="36576" cy="1005840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 on tweets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65760" y="309067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on tweet text. Captures linguistic style bots can't easily mimic.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00CCA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886200"/>
            <a:ext cx="36576" cy="1005840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39502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features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65760" y="41879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'neighbor' field in TwiBot-20 — clustering coefficient, bot-neighbor ratio.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00400" y="1261872"/>
            <a:ext cx="2743200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MEDIUM-TERM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200400" y="169164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00400" y="1691640"/>
            <a:ext cx="36576" cy="10058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91840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Temporal split eval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291840" y="199339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old accounts, test on new ones — simulates real deployment drift.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200400" y="278892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0" y="2788920"/>
            <a:ext cx="36576" cy="10058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91840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 taxonomy v2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291840" y="309067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4 types: political bots, crypto spam bots, fake follower bots.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200400" y="388620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66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200400" y="3886200"/>
            <a:ext cx="36576" cy="10058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91840" y="39502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GNN model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3291840" y="41879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GraphSAGE/GAT on the full social graph. Structure beats content for detection.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26480" y="1261872"/>
            <a:ext cx="2743200" cy="347472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12648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126480" y="169164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1A6C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126480" y="1691640"/>
            <a:ext cx="36576" cy="1005840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175564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robustness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217920" y="199339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against bots that deliberately mimic human timing distributions.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126480" y="278892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1A6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126480" y="2788920"/>
            <a:ext cx="36576" cy="1005840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217920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Cross-platform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217920" y="309067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Instagram, Reddit, TikTok using platform-invariant behavioral signals.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126480" y="3886200"/>
            <a:ext cx="2743200" cy="1005840"/>
          </a:xfrm>
          <a:prstGeom prst="rect">
            <a:avLst/>
          </a:prstGeom>
          <a:solidFill>
            <a:srgbClr val="0D180D">
              <a:alpha val="85000"/>
            </a:srgbClr>
          </a:solidFill>
          <a:ln w="6350">
            <a:solidFill>
              <a:srgbClr val="FF1A6C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126480" y="3886200"/>
            <a:ext cx="36576" cy="1005840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17920" y="39502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1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Federated learning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6217920" y="41879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platforms without sharing private data for privacy compliance.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A9900"/>
          </a:solidFill>
          <a:ln w="12700">
            <a:solidFill>
              <a:srgbClr val="1A990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65760" y="4654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RESEARCH:  Adversarial Bot Arms Race  ·  LLM-generated Bots  ·  Temporal Concept Drift  ·  Zero-shot Cross-platform Transfer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dot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5720"/>
            <a:ext cx="1645920" cy="1188720"/>
          </a:xfrm>
          <a:prstGeom prst="rect">
            <a:avLst/>
          </a:prstGeom>
        </p:spPr>
      </p:pic>
      <p:pic>
        <p:nvPicPr>
          <p:cNvPr id="4" name="Image 2" descr="/home/claude/dot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1440" y="3840480"/>
            <a:ext cx="1645920" cy="1188720"/>
          </a:xfrm>
          <a:prstGeom prst="rect">
            <a:avLst/>
          </a:prstGeom>
        </p:spPr>
      </p:pic>
      <p:pic>
        <p:nvPicPr>
          <p:cNvPr id="5" name="Image 3" descr="/home/claude/circuit_lin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474720"/>
            <a:ext cx="2743200" cy="1371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74320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475488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676656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877824" y="182880"/>
            <a:ext cx="109728" cy="109728"/>
          </a:xfrm>
          <a:prstGeom prst="rect">
            <a:avLst/>
          </a:prstGeom>
          <a:solidFill>
            <a:srgbClr val="22CC22"/>
          </a:solidFill>
          <a:ln w="12700">
            <a:solidFill>
              <a:srgbClr val="22CC22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91440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1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</a:t>
            </a:r>
            <a:endParaRPr lang="en-US" sz="7200" dirty="0"/>
          </a:p>
        </p:txBody>
      </p:sp>
      <p:sp>
        <p:nvSpPr>
          <p:cNvPr id="11" name="Text 5"/>
          <p:cNvSpPr/>
          <p:nvPr/>
        </p:nvSpPr>
        <p:spPr>
          <a:xfrm>
            <a:off x="91440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 —  Advanced Fake Engagement Detection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2286000" y="2029968"/>
            <a:ext cx="4572000" cy="0"/>
          </a:xfrm>
          <a:prstGeom prst="line">
            <a:avLst/>
          </a:prstGeom>
          <a:noFill/>
          <a:ln w="12700">
            <a:solidFill>
              <a:srgbClr val="22CC22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2011680" y="2240280"/>
            <a:ext cx="640080" cy="320040"/>
          </a:xfrm>
          <a:prstGeom prst="rect">
            <a:avLst/>
          </a:prstGeom>
          <a:solidFill>
            <a:srgbClr val="FF1A6C"/>
          </a:solidFill>
          <a:ln w="12700">
            <a:solidFill>
              <a:srgbClr val="FF1A6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011680" y="2240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81%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274320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0.865 AUC-ROC on TwiBot-20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2011680" y="2724912"/>
            <a:ext cx="64008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01168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2743200" y="2752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Profile + Timing + NLP + Coordination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011680" y="3209544"/>
            <a:ext cx="640080" cy="320040"/>
          </a:xfrm>
          <a:prstGeom prst="rect">
            <a:avLst/>
          </a:prstGeom>
          <a:solidFill>
            <a:srgbClr val="00CCAA"/>
          </a:solidFill>
          <a:ln w="12700">
            <a:solidFill>
              <a:srgbClr val="00CCA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011680" y="32095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743200" y="3236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ablation proves behavioral independence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011680" y="3694176"/>
            <a:ext cx="640080" cy="320040"/>
          </a:xfrm>
          <a:prstGeom prst="rect">
            <a:avLst/>
          </a:prstGeom>
          <a:solidFill>
            <a:srgbClr val="39D600"/>
          </a:solidFill>
          <a:ln w="12700">
            <a:solidFill>
              <a:srgbClr val="39D6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011680" y="36941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74320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taxonomy sub-types via K-Means clustering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011680" y="4178808"/>
            <a:ext cx="640080" cy="320040"/>
          </a:xfrm>
          <a:prstGeom prst="rect">
            <a:avLst/>
          </a:prstGeom>
          <a:solidFill>
            <a:srgbClr val="33FF33"/>
          </a:solidFill>
          <a:ln w="12700">
            <a:solidFill>
              <a:srgbClr val="33FF3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011680" y="4178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27432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window: cross-account co-activity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50D05">
              <a:alpha val="70000"/>
            </a:srgbClr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3F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Analytics Hackathon  ·  Problem Statement 3  ·  Fake Engagement Detection in Social Media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Fake Engagement Detection</dc:title>
  <dc:subject>PptxGenJS Presentation</dc:subject>
  <dc:creator>PptxGenJS</dc:creator>
  <cp:lastModifiedBy>PptxGenJS</cp:lastModifiedBy>
  <cp:revision>1</cp:revision>
  <dcterms:created xsi:type="dcterms:W3CDTF">2026-03-03T08:35:17Z</dcterms:created>
  <dcterms:modified xsi:type="dcterms:W3CDTF">2026-03-03T08:35:17Z</dcterms:modified>
</cp:coreProperties>
</file>