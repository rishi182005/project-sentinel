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97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85216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0" y="27432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28016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228600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329184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0" y="429768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9320" y="45720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457200"/>
            <a:ext cx="146304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59436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080760" y="10812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80760" y="124449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Model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543800" y="45720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43800" y="457200"/>
            <a:ext cx="146304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59436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635240" y="10812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35240" y="124449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89320" y="150876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89320" y="1508760"/>
            <a:ext cx="146304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164592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080760" y="213283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229605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43800" y="150876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43800" y="1508760"/>
            <a:ext cx="146304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164592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11,826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635240" y="213283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35240" y="229605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TwiBot-20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943600" y="26517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STATEMENT 3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943600" y="2907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 Analytics Hackathon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" y="9144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0" b="1" kern="0" spc="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6200" dirty="0"/>
          </a:p>
        </p:txBody>
      </p:sp>
      <p:sp>
        <p:nvSpPr>
          <p:cNvPr id="36" name="Text 34"/>
          <p:cNvSpPr/>
          <p:nvPr/>
        </p:nvSpPr>
        <p:spPr>
          <a:xfrm>
            <a:off x="32004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Engagement Detection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320040" y="2350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Social Media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20040" y="29260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Detection · Authenticity Scoring · Behavioural Analysis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796028"/>
            <a:ext cx="5852160" cy="347472"/>
          </a:xfrm>
          <a:prstGeom prst="rect">
            <a:avLst/>
          </a:prstGeom>
          <a:solidFill>
            <a:srgbClr val="00D4AA">
              <a:alpha val="12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2880" y="479602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 ·  27+ Features  ·  TwiBot-20  ·  NLP  ·  Coordination Detection</a:t>
            </a:r>
            <a:endParaRPr lang="en-US" sz="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E0B4B2-765C-BE17-A36B-A1324A5ED98A}"/>
              </a:ext>
            </a:extLst>
          </p:cNvPr>
          <p:cNvSpPr txBox="1"/>
          <p:nvPr/>
        </p:nvSpPr>
        <p:spPr>
          <a:xfrm>
            <a:off x="214230" y="3214115"/>
            <a:ext cx="3779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By Rishikesh M Ramasubramaniyan – 22MIA1163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PROBLEM STATEMENT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Fake Engagement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 media platforms distorted by bots and coordinated inauthentic behaviour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411480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13898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Manipulation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157276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post at inhuman speeds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fixed intervals to game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algorithms and trending topics.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22128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Amplification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" y="23957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farms post simultaneously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manufacture viral content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false social consensus.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30358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Follow-Spam Inflation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32186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Mass-follow bots inflate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 counts to fake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credibility and influence.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85876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Deception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4128" y="404164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Template-based bots mimic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language while lacking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lexical diversity.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1234440"/>
            <a:ext cx="4023360" cy="1600200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3258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57276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Detecting fake engagement without access to private data, relying only on publicly observable behavioural signals — timing, content patterns, and network structure.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2971800"/>
            <a:ext cx="4023360" cy="178308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3063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31012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model that classifies accounts as bot or human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an Authenticity Score (0–100%) per account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 behavioural anomaly dimensions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 coordinated inauthentic behaviour across accounts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an account is flagged (SHAP)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DATA &amp; FEATURES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TwiBot-20 Dataset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11,826 labeled Twitter accounts · 3 splits · Rich profile + tweet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34440"/>
            <a:ext cx="192024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11,826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0292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Accounts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+ test + dev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1234440"/>
            <a:ext cx="192024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8,278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60604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Accounts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train.json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1772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234440"/>
            <a:ext cx="192024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55.7%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70916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Ratio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0916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6,589 bots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2084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20840" y="1234440"/>
            <a:ext cx="192024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81228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Ratio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1228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5,237 humans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11480" y="2423160"/>
            <a:ext cx="269748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" y="2423160"/>
            <a:ext cx="54864" cy="2395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2514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Record Structure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2770632"/>
            <a:ext cx="246888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record contains: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profile  →  bio, counts, verified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tweet    →  list of recent tweets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neighbor →  social graph edges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domain   →  content domain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    →  "bot" or "human"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46120" y="2423160"/>
            <a:ext cx="260604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2423160"/>
            <a:ext cx="54864" cy="2395728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2514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Challenges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83280" y="2770632"/>
            <a:ext cx="23774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JSON is messy: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Mixed types: "True" vs True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Null values: None, "null", ""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Trailing spaces in strings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Inconsistent label formats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Solution: 4 safe type converters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safe_int / safe_bool / safe_str / safe_url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0" y="2423160"/>
            <a:ext cx="301752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89320" y="2423160"/>
            <a:ext cx="54864" cy="2395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2514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Categories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26480" y="2770632"/>
            <a:ext cx="278892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27+ features extracted: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Profile signals    (17)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Timing patterns    (10)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NLP features       (10)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Network ratios      (4)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Coordination score  (1)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Total: 42 features in v2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FEATURES (1/2)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Features — Profile &amp; Timing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signals + temporal patterns extracted from account metadata and tweet timestamps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070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 SIGNALS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1481328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481328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1790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followers_count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1682496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follower count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1929384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192938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96596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follower_following_ratio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213055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follow many, have few followers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2377440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00D4A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377440"/>
            <a:ext cx="45720" cy="40233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41401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578608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accounts ≈ never bots (81.5% importance)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2825496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2825496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86207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description_length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3026664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often have empty bios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273552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273552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31012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username_digit_ratio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47472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bot83921 pattern detection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11480" y="3721608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" y="372160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75818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listed_count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3922776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curation trust signal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1480" y="4169664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" y="416966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20624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account_age_days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3708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accounts are suspicious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11480" y="4617720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1480" y="4617720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65429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engagement_rate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4818888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Favourites ÷ statuses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54880" y="120700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PATTERNS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1481328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148132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151790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mean_interval_sec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92040" y="1682496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 gap between posts — bots are rigid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754880" y="1929384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54880" y="192938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1965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std_interval_sec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92040" y="2130552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std = robot-like regularity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2377440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54880" y="2377440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92040" y="24140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burst_ratio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92040" y="25786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 &lt; 60s apart — automation signal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54880" y="2825496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825496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92040" y="286207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night_post_ratio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892040" y="302666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sleep; bots post 24/7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54880" y="3273552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54880" y="3273552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92040" y="331012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posting_hour_std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892040" y="3474720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show natural time variance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754880" y="3721608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754880" y="372160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92040" y="375818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daily_count_cv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892040" y="3922776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CV = identical days = bot pattern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54880" y="4169664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4169664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92040" y="420624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interval_entropy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892040" y="4370832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Shannon entropy of posting rhythm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54880" y="4617720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00D4A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54880" y="4617720"/>
            <a:ext cx="45720" cy="40233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92040" y="46542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min_interval_sec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892040" y="481888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Shortest gap ever — floor of automation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FEATURES (2/2)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 — NLP &amp; Coordination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Text-level signals from tweet content + cross-account temporal co-activity analysis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07008"/>
            <a:ext cx="406908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984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 / CONTENT FEATURES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664208"/>
            <a:ext cx="109728" cy="109728"/>
          </a:xfrm>
          <a:prstGeom prst="ellipse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609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hashtag_per_tweet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1819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spam hashtags to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 trending topics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185416"/>
            <a:ext cx="109728" cy="10972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1305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url_ratio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" y="23408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Spam bots post almost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but links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70662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26517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retweet_ratio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49808" y="2862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Amplifier bots retweet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exclusively — no originals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3227832"/>
            <a:ext cx="109728" cy="10972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1729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lexical_diversity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49808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repeat templates;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unique word ratio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109728" cy="109728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6941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reply_ratio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49808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converse;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broadcast only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4270248"/>
            <a:ext cx="109728" cy="10972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42153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orig_content_ratio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49808" y="4425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retweet_ratio;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much is original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1207008"/>
            <a:ext cx="425196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2984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COORDINATION DETECTION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16459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00600" y="1883664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Extract all tweet timestamps across all accounts
2. For each pair of posts within 60 seconds:
</a:t>
            </a:r>
            <a:r>
              <a:rPr lang="en-US" sz="9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Both accounts get +1 to coordination counter
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Normalize all counts to 0–1 score
4. coordination_score becomes a model feature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3246120"/>
            <a:ext cx="3931920" cy="4572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364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3602736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Individual bots can mimic humans well.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NETWORKS leave a collective timing fingerprint — dozens of accounts posting the same hashtag within seconds of each other. This is invisible to single-account analysis.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ARCHITECTURE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— SENTINEL v2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XGBoost models + K-Means taxonomy + SHAP explainability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280160"/>
            <a:ext cx="1152144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JSON files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11,826 accounts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426464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26464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17904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7904" y="1280160"/>
            <a:ext cx="1152144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63624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63624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 coercion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670048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0048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61488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61488" y="1280160"/>
            <a:ext cx="1152144" cy="54864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07208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07208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Entropy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913632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13632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05072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5072" y="1280160"/>
            <a:ext cx="1152144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50792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050792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 diversity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157216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57216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48656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48656" y="1280160"/>
            <a:ext cx="1152144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94376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Coord.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94376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60s window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Co-activity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0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92240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92240" y="1280160"/>
            <a:ext cx="1152144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81% accuracy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44384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44384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35824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35824" y="1280160"/>
            <a:ext cx="1152144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81544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781544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verified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Behavioral only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23160"/>
            <a:ext cx="1920240" cy="54864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6576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K-Means 4 types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features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19456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46888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68880" y="2423160"/>
            <a:ext cx="1920240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6032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Explainer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256032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TreeExplainer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B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38912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66344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0" y="2423160"/>
            <a:ext cx="192024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75488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P(bot)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0–100%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58368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85800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58000" y="2423160"/>
            <a:ext cx="192024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94944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 flags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11480" y="354787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HYPERPARAMETERS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1148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1148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41148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7452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87452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87452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33756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33756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1400" dirty="0"/>
          </a:p>
        </p:txBody>
      </p:sp>
      <p:sp>
        <p:nvSpPr>
          <p:cNvPr id="76" name="Text 74"/>
          <p:cNvSpPr/>
          <p:nvPr/>
        </p:nvSpPr>
        <p:spPr>
          <a:xfrm>
            <a:off x="333756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80060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0060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400" dirty="0"/>
          </a:p>
        </p:txBody>
      </p:sp>
      <p:sp>
        <p:nvSpPr>
          <p:cNvPr id="79" name="Text 77"/>
          <p:cNvSpPr/>
          <p:nvPr/>
        </p:nvSpPr>
        <p:spPr>
          <a:xfrm>
            <a:off x="480060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626364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6364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26364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test_split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72668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72668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772668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RESULTS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Results — Performance Metrics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Model A (all features) · 2,366 test samples · TwiBot-20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34440"/>
            <a:ext cx="155448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0292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 test 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0312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103120" y="1234440"/>
            <a:ext cx="15544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19456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9456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9476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94760" y="1234440"/>
            <a:ext cx="15544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88620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Precision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PR-curve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48640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0" y="1234440"/>
            <a:ext cx="155448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57784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7784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7804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78040" y="1234440"/>
            <a:ext cx="155448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26948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Precision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6948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human rate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" y="24505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 REPORT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88336"/>
          <a:ext cx="4572000" cy="135331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Class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Precision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F1-Score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Support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Human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B3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5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B3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1,318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Macro Avg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2,366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9738360" y="27066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RESULTS (2/2)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&amp; Ablation Study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 (all) vs Model B (no verified) — proving behavioral independence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CONFUSION MATRIX — MODEL 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97280" y="14813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Predicted Human   |   Predicted Bot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719072"/>
            <a:ext cx="1417320" cy="960120"/>
          </a:xfrm>
          <a:prstGeom prst="rect">
            <a:avLst/>
          </a:prstGeom>
          <a:solidFill>
            <a:srgbClr val="002D1A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" y="2304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Human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304288" y="1719072"/>
            <a:ext cx="1417320" cy="960120"/>
          </a:xfrm>
          <a:prstGeom prst="rect">
            <a:avLst/>
          </a:prstGeom>
          <a:solidFill>
            <a:srgbClr val="2D0A10"/>
          </a:solidFill>
          <a:ln w="19050">
            <a:solidFill>
              <a:srgbClr val="FF53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04288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304288" y="2304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Bot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2743200"/>
            <a:ext cx="1417320" cy="960120"/>
          </a:xfrm>
          <a:prstGeom prst="rect">
            <a:avLst/>
          </a:prstGeom>
          <a:solidFill>
            <a:srgbClr val="2D1A00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74320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2960" y="33284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Missed Bot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04288" y="2743200"/>
            <a:ext cx="1417320" cy="960120"/>
          </a:xfrm>
          <a:prstGeom prst="rect">
            <a:avLst/>
          </a:prstGeom>
          <a:solidFill>
            <a:srgbClr val="001A10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04288" y="274320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304288" y="33284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Bot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 rot="16200000">
            <a:off x="109728" y="1719072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Human →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 rot="16200000">
            <a:off x="109728" y="274320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Bot →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12344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 vs B — ABLATION STUDY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97680" y="1508760"/>
            <a:ext cx="4572000" cy="128016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1508760"/>
            <a:ext cx="4572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16002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— All Features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34840" y="184708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(includes 'verified')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43484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43484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85216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85216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26948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6948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F1-Bot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97680" y="2926080"/>
            <a:ext cx="4572000" cy="1280160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7680" y="2926080"/>
            <a:ext cx="4572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4840" y="3017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— Behavioral Only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34840" y="32644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(verified removed)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43484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~74%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43484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~0.81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85216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26948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~0.79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26948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F1-Bot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297680" y="4370832"/>
            <a:ext cx="457200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FFB34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4074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34840" y="45902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~7% accuracy drop when removing 'verified' proves behavioral features (timing, NLP, network, coordination) genuinely carry the signal — not just a shortcut.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BEHAVIOURAL INSIGHTS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Insights from the Model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data reveals about how bots behave differently from humans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FF53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261872"/>
            <a:ext cx="274320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Timing Regularity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548640" cy="20116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21208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post at fixed intervals with near-zero std_interval_sec. Human posting is chaotic — lunch breaks, weekends, late nights create natural irregularity. interval_entropy is low for bots because intervals cluster in just 1–2 bins out of 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64408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FFB3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1261872"/>
            <a:ext cx="274320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 Burst Behaviour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3248" y="1371600"/>
            <a:ext cx="548640" cy="201168"/>
          </a:xfrm>
          <a:prstGeom prst="rect">
            <a:avLst/>
          </a:prstGeom>
          <a:solidFill>
            <a:srgbClr val="FFB347">
              <a:alpha val="20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13248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74136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burst_ratio &gt; 0.5 means the account posts multiple times per minute. This is mechanically impossible for a human typing in real time. Combined with low daily_count_cv, it exposes fully automated posting pipelines.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17336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7336" y="1261872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Linguistic Monotony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66176" y="1371600"/>
            <a:ext cx="548640" cy="201168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66176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227064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reuse templates → lexical_diversity near 0. Humans write differently every day, use slang, typos, opinions. High retweet_ratio (&gt;0.8) means the account amplifies rather than creates — a pure amplifier bot signature.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A78B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1480" y="3017520"/>
            <a:ext cx="27432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Network Anomalies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60320" y="3127248"/>
            <a:ext cx="548640" cy="201168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21208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Follow-spam bots have following:follower ratios of 100:1. listed_count is the most human-curated signal — you only add accounts you genuinely follow to lists. Bots rarely appear in curated lists because humans recognise them as noise.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64408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00D4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64408" y="3017520"/>
            <a:ext cx="27432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Coordination Fingerprint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13248" y="3127248"/>
            <a:ext cx="548640" cy="201168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13248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374136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networks post the same hashtag within 60-second windows across dozens of accounts. This collective timing signature is invisible to single-account analysis but clearly reveals bot farms manufacturing fake trends.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17336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6B8C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17336" y="3017520"/>
            <a:ext cx="2743200" cy="45720"/>
          </a:xfrm>
          <a:prstGeom prst="rect">
            <a:avLst/>
          </a:prstGeom>
          <a:solidFill>
            <a:srgbClr val="6B8CA8"/>
          </a:solidFill>
          <a:ln w="12700">
            <a:solidFill>
              <a:srgbClr val="6B8C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27064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No Biological Rhythm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66176" y="3127248"/>
            <a:ext cx="548640" cy="201168"/>
          </a:xfrm>
          <a:prstGeom prst="rect">
            <a:avLst/>
          </a:prstGeom>
          <a:solidFill>
            <a:srgbClr val="6B8CA8">
              <a:alpha val="20000"/>
            </a:srgbClr>
          </a:solidFill>
          <a:ln w="6350">
            <a:solidFill>
              <a:srgbClr val="6B8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66176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27064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night_post_ratio combined with low posting_hour_std means the account posts uniformly at all hours — no evidence of sleep, work hours, or time zone. Humans concentrate activity at predictable times of day.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B347">
              <a:alpha val="20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PRACTICAL IMPACT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Impact &amp; Real-World Applications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SENTINEL detection can be deployed and what it protects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61872"/>
            <a:ext cx="4023360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53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🗳  Election Integrity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700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farms manufacture fake trending topics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9751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elections to manipulate public opinion.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can flag coordinated campaigns 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5237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real-time before they reach critical mass.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261872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61872"/>
            <a:ext cx="402336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353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  Brand Safety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1700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Advertisers pay for 'reach' to real humans.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00600" y="19751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 engagement inflates metrics, wasting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billions in ad spend. Authenticity scores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00600" y="25237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 media buying decisions.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" y="2980944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38BDF8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2980944"/>
            <a:ext cx="402336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723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Platform Trust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 media platforms need scalable tools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3694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proactively suspend bot accounts before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they accumulate influence, not reactively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42428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 damage is done.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980944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980944"/>
            <a:ext cx="40233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723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Misinformation Control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narratives go viral when bot networks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3694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amplify them simultaneously. Detecting the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coordination fingerprint early breaks the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00600" y="42428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artificial amplification loop.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0A1628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796028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DEPLOY:  REST API  ·  Browser Extension  ·  Batch CSV Scoring  ·  Real-time Dashboard  ·  Platform Integration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FUTURE SCOPE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&amp; Improvements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to make SENTINEL more robust, explainable, and adversarially hardened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261872"/>
            <a:ext cx="27432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SHORT-TERM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SHAP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264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 xgboost==1.7.6 + shap==0.42.1. Per-prediction waterfall plots for audit trails.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on tweets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Fine-tune RoBERTa on tweet text. Captures linguistic style bots can't easily mimic.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264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the 'neighbor' field in TwiBot-20 — clustering coefficient, bot-neighbor ratio.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7560" y="1261872"/>
            <a:ext cx="2743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MEDIUM-TERM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872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eval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872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on old accounts, test on new ones — simulates real deployment drift.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3872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taxonomy v2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3872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More than 4 types: political bots, crypto spam bots, fake follower bots.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7472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3872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model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3872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GraphSAGE/GAT on the full social graph. Structure beats content for detection.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6364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1261872"/>
            <a:ext cx="2743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LONG-TERM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6480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robustness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6480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against bots that deliberately mimic human timing distributions.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6480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 to Instagram, Reddit, TikTok using platform-invariant behavioral signals.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6480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6480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across platforms without sharing private data for privacy compliance.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0A1628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75945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3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RESEARCH:  Adversarial Bot Arms Race  ·  LLM-generated Bots (ChatGPT-written tweets)  ·  Temporal Concept Drift  ·  Zero-shot Cross-platform Transfer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0" y="86868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173736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260604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347472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0" y="434340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0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20040" y="15361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—  Advanced Fake Engagement Detection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221992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48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81% accuracy · 0.865 AUC-ROC on TwiBot-20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642616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69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features: Profile + Timing + NLP + Coordination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063240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90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models: ablation proves behavioral independence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483864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1071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taxonomy: 4 sub-types via K-Means clustering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904488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83133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Coordinated detection: cross-account co-activity graph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325112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2519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 explainability for audit-ready predictions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457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212080" y="457200"/>
            <a:ext cx="18288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594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303520" y="1140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03520" y="1319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32320" y="457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0" y="457200"/>
            <a:ext cx="18288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0" y="594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223760" y="1140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1319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212080" y="1600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12080" y="1600200"/>
            <a:ext cx="182880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0" y="1737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5303520" y="2283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303520" y="2462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132320" y="1600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132320" y="1600200"/>
            <a:ext cx="18288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1737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7223760" y="2283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23760" y="2462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Pipeline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212080" y="2743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212080" y="2743200"/>
            <a:ext cx="182880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0" y="2880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5303520" y="3426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Types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03520" y="3605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K-Means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2743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132320" y="2743200"/>
            <a:ext cx="18288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23760" y="2880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7223760" y="3426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 Window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23760" y="3605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Co-activity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00D4AA">
              <a:alpha val="1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475945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8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 Analytics Hackathon  ·  Problem Statement 3  ·  Fake Engagement Detection in Social Media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1836</Words>
  <Application>Microsoft Office PowerPoint</Application>
  <PresentationFormat>On-screen Show (16:9)</PresentationFormat>
  <Paragraphs>407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Fake Engagement Detection</dc:title>
  <dc:subject>PptxGenJS Presentation</dc:subject>
  <dc:creator>PptxGenJS</dc:creator>
  <cp:lastModifiedBy>Rishikesh M Ramasubramaniyan</cp:lastModifiedBy>
  <cp:revision>3</cp:revision>
  <dcterms:created xsi:type="dcterms:W3CDTF">2026-02-28T13:22:15Z</dcterms:created>
  <dcterms:modified xsi:type="dcterms:W3CDTF">2026-02-28T20:25:33Z</dcterms:modified>
</cp:coreProperties>
</file>